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heme/theme3.xml" ContentType="application/vnd.openxmlformats-officedocument.theme+xml"/>
  <Override PartName="/ppt/tags/tag11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Lst>
  <p:notesMasterIdLst>
    <p:notesMasterId r:id="rId11"/>
  </p:notesMasterIdLst>
  <p:sldIdLst>
    <p:sldId id="360" r:id="rId6"/>
    <p:sldId id="846" r:id="rId7"/>
    <p:sldId id="868" r:id="rId8"/>
    <p:sldId id="843" r:id="rId9"/>
    <p:sldId id="390" r:id="rId10"/>
  </p:sldIdLst>
  <p:sldSz cx="12192000" cy="6858000"/>
  <p:notesSz cx="6858000" cy="9144000"/>
  <p:custDataLst>
    <p:tags r:id="rId1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46"/>
            <p14:sldId id="868"/>
            <p14:sldId id="843"/>
            <p14:sldId id="390"/>
          </p14:sldIdLst>
        </p14:section>
      </p14:sectionLst>
    </p:ext>
    <p:ext uri="{EFAFB233-063F-42B5-8137-9DF3F51BA10A}">
      <p15:sldGuideLst xmlns:p15="http://schemas.microsoft.com/office/powerpoint/2012/main" xmlns="">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780"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28-07-2026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a16="http://schemas.microsoft.com/office/drawing/2014/main" xmlns=""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a16="http://schemas.microsoft.com/office/drawing/2014/main" xmlns=""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a16="http://schemas.microsoft.com/office/drawing/2014/main" xmlns=""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a16="http://schemas.microsoft.com/office/drawing/2014/main" xmlns=""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a16="http://schemas.microsoft.com/office/drawing/2014/main" xmlns=""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a16="http://schemas.microsoft.com/office/drawing/2014/main" xmlns=""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a16="http://schemas.microsoft.com/office/drawing/2014/main" xmlns=""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a16="http://schemas.microsoft.com/office/drawing/2014/main" xmlns=""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a16="http://schemas.microsoft.com/office/drawing/2014/main" xmlns=""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a16="http://schemas.microsoft.com/office/drawing/2014/main" xmlns=""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a16="http://schemas.microsoft.com/office/drawing/2014/main" xmlns=""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a16="http://schemas.microsoft.com/office/drawing/2014/main" xmlns=""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a16="http://schemas.microsoft.com/office/drawing/2014/main" xmlns=""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a16="http://schemas.microsoft.com/office/drawing/2014/main" xmlns=""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a16="http://schemas.microsoft.com/office/drawing/2014/main" xmlns=""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a16="http://schemas.microsoft.com/office/drawing/2014/main" xmlns=""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a16="http://schemas.microsoft.com/office/drawing/2014/main" xmlns=""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a16="http://schemas.microsoft.com/office/drawing/2014/main" xmlns=""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a16="http://schemas.microsoft.com/office/drawing/2014/main" xmlns=""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a16="http://schemas.microsoft.com/office/drawing/2014/main" xmlns=""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a16="http://schemas.microsoft.com/office/drawing/2014/main" xmlns=""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a16="http://schemas.microsoft.com/office/drawing/2014/main" xmlns=""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a16="http://schemas.microsoft.com/office/drawing/2014/main" xmlns=""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a16="http://schemas.microsoft.com/office/drawing/2014/main" xmlns=""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a16="http://schemas.microsoft.com/office/drawing/2014/main" xmlns=""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a16="http://schemas.microsoft.com/office/drawing/2014/main" xmlns=""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a16="http://schemas.microsoft.com/office/drawing/2014/main" xmlns=""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a16="http://schemas.microsoft.com/office/drawing/2014/main" xmlns=""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a16="http://schemas.microsoft.com/office/drawing/2014/main" xmlns=""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a16="http://schemas.microsoft.com/office/drawing/2014/main" xmlns=""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a16="http://schemas.microsoft.com/office/drawing/2014/main" xmlns=""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a16="http://schemas.microsoft.com/office/drawing/2014/main" xmlns=""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a16="http://schemas.microsoft.com/office/drawing/2014/main" xmlns=""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a16="http://schemas.microsoft.com/office/drawing/2014/main" xmlns=""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a16="http://schemas.microsoft.com/office/drawing/2014/main" xmlns=""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a16="http://schemas.microsoft.com/office/drawing/2014/main" xmlns=""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a16="http://schemas.microsoft.com/office/drawing/2014/main" xmlns=""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a16="http://schemas.microsoft.com/office/drawing/2014/main" xmlns=""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a16="http://schemas.microsoft.com/office/drawing/2014/main" xmlns=""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a16="http://schemas.microsoft.com/office/drawing/2014/main" xmlns=""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a16="http://schemas.microsoft.com/office/drawing/2014/main" xmlns=""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a16="http://schemas.microsoft.com/office/drawing/2014/main" xmlns=""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xmlns=""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a16="http://schemas.microsoft.com/office/drawing/2014/main" xmlns=""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a16="http://schemas.microsoft.com/office/drawing/2014/main" xmlns=""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xmlns=""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a16="http://schemas.microsoft.com/office/drawing/2014/main" xmlns=""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a16="http://schemas.microsoft.com/office/drawing/2014/main" xmlns=""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xmlns=""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a16="http://schemas.microsoft.com/office/drawing/2014/main" xmlns=""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a16="http://schemas.microsoft.com/office/drawing/2014/main" xmlns=""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a16="http://schemas.microsoft.com/office/drawing/2014/main" xmlns=""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a16="http://schemas.microsoft.com/office/drawing/2014/main" xmlns=""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a16="http://schemas.microsoft.com/office/drawing/2014/main" xmlns=""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a16="http://schemas.microsoft.com/office/drawing/2014/main" xmlns=""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xmlns=""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xmlns=""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xmlns=""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a16="http://schemas.microsoft.com/office/drawing/2014/main" xmlns=""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a16="http://schemas.microsoft.com/office/drawing/2014/main" xmlns=""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a16="http://schemas.microsoft.com/office/drawing/2014/main" xmlns=""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a16="http://schemas.microsoft.com/office/drawing/2014/main" xmlns=""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a16="http://schemas.microsoft.com/office/drawing/2014/main" xmlns=""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a16="http://schemas.microsoft.com/office/drawing/2014/main" xmlns=""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a16="http://schemas.microsoft.com/office/drawing/2014/main" xmlns=""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xmlns=""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a16="http://schemas.microsoft.com/office/drawing/2014/main" xmlns=""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9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1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4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67"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91"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15"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39"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63"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8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1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3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5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8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0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3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5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7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60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2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5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7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9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2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4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7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9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1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4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6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9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1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3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6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8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201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3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5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8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10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3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5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7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203"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2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5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7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9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23"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47"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71"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95"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19"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4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6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9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1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3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6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8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61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3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5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8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707"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3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5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79"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80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2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5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7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9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23"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47"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71"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95"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19"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4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9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9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11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117"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4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41"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6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65"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6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8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21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3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59"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83"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307"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31"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55"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7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40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2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51"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75"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99"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2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47"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71"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95"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19"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43"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6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91"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15"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39"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63"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87"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811"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a16="http://schemas.microsoft.com/office/drawing/2014/main" xmlns=""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a16="http://schemas.microsoft.com/office/drawing/2014/main" xmlns=""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71"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a16="http://schemas.microsoft.com/office/drawing/2014/main" xmlns=""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117.xml"/><Relationship Id="rId1" Type="http://schemas.openxmlformats.org/officeDocument/2006/relationships/vmlDrawing" Target="../drawings/vmlDrawing112.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116.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4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xmlns=""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35"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xmlns=""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a16="http://schemas.microsoft.com/office/drawing/2014/main" xmlns=""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a16="http://schemas.microsoft.com/office/drawing/2014/main" xmlns="" id="{8BCCF240-086B-DEFA-BC9A-4868CDC7DEA8}"/>
              </a:ext>
            </a:extLst>
          </p:cNvPr>
          <p:cNvSpPr>
            <a:spLocks noGrp="1"/>
          </p:cNvSpPr>
          <p:nvPr>
            <p:ph type="ctrTitle"/>
          </p:nvPr>
        </p:nvSpPr>
        <p:spPr/>
        <p:txBody>
          <a:bodyPr vert="horz"/>
          <a:lstStyle/>
          <a:p>
            <a:r>
              <a:rPr lang="en-US" dirty="0" smtClean="0"/>
              <a:t>AWS </a:t>
            </a:r>
            <a:r>
              <a:rPr lang="en-US" dirty="0" err="1" smtClean="0"/>
              <a:t>CodeBuild</a:t>
            </a:r>
            <a:r>
              <a:rPr lang="en-US" dirty="0" smtClean="0"/>
              <a:t/>
            </a:r>
            <a:br>
              <a:rPr lang="en-US" dirty="0" smtClean="0"/>
            </a:br>
            <a:r>
              <a:rPr lang="en-US" dirty="0" smtClean="0"/>
              <a:t>Part-01</a:t>
            </a:r>
            <a:endParaRPr lang="en-US" dirty="0"/>
          </a:p>
        </p:txBody>
      </p:sp>
      <p:sp>
        <p:nvSpPr>
          <p:cNvPr id="11" name="Subtitle 10">
            <a:extLst>
              <a:ext uri="{FF2B5EF4-FFF2-40B4-BE49-F238E27FC236}">
                <a16:creationId xmlns:a16="http://schemas.microsoft.com/office/drawing/2014/main" xmlns=""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Objectives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344231"/>
          </a:xfrm>
        </p:spPr>
        <p:txBody>
          <a:bodyPr/>
          <a:lstStyle/>
          <a:p>
            <a:pPr>
              <a:buClr>
                <a:srgbClr val="00B0F0"/>
              </a:buClr>
              <a:buFont typeface="Courier New" panose="02070309020205020404" pitchFamily="49" charset="0"/>
              <a:buChar char="o"/>
            </a:pPr>
            <a:r>
              <a:rPr lang="en-US" dirty="0" smtClean="0"/>
              <a:t>Understand </a:t>
            </a:r>
            <a:r>
              <a:rPr lang="en-US" dirty="0"/>
              <a:t>the CI/CD workflow using AWS services</a:t>
            </a:r>
            <a:r>
              <a:rPr lang="en-US" dirty="0" smtClean="0"/>
              <a:t>.</a:t>
            </a:r>
          </a:p>
          <a:p>
            <a:pPr>
              <a:buClr>
                <a:srgbClr val="00B0F0"/>
              </a:buClr>
              <a:buFont typeface="Courier New" panose="02070309020205020404" pitchFamily="49" charset="0"/>
              <a:buChar char="o"/>
            </a:pPr>
            <a:r>
              <a:rPr lang="en-US" dirty="0" smtClean="0"/>
              <a:t> </a:t>
            </a:r>
            <a:r>
              <a:rPr lang="en-US" dirty="0"/>
              <a:t>Integrate </a:t>
            </a:r>
            <a:r>
              <a:rPr lang="en-US" b="1" dirty="0" err="1"/>
              <a:t>GitHub</a:t>
            </a:r>
            <a:r>
              <a:rPr lang="en-US" dirty="0"/>
              <a:t> repositories with AWS for automated builds. </a:t>
            </a:r>
            <a:endParaRPr lang="en-US" dirty="0" smtClean="0"/>
          </a:p>
          <a:p>
            <a:pPr>
              <a:buClr>
                <a:srgbClr val="00B0F0"/>
              </a:buClr>
              <a:buFont typeface="Courier New" panose="02070309020205020404" pitchFamily="49" charset="0"/>
              <a:buChar char="o"/>
            </a:pPr>
            <a:r>
              <a:rPr lang="en-US" dirty="0" smtClean="0"/>
              <a:t>Configure </a:t>
            </a:r>
            <a:r>
              <a:rPr lang="en-US" dirty="0"/>
              <a:t>and use </a:t>
            </a:r>
            <a:r>
              <a:rPr lang="en-US" b="1" dirty="0"/>
              <a:t>AWS </a:t>
            </a:r>
            <a:r>
              <a:rPr lang="en-US" b="1" dirty="0" err="1"/>
              <a:t>CodeBuild</a:t>
            </a:r>
            <a:r>
              <a:rPr lang="en-US" dirty="0"/>
              <a:t> to build and test applications. </a:t>
            </a:r>
            <a:endParaRPr lang="en-US" dirty="0" smtClean="0"/>
          </a:p>
          <a:p>
            <a:pPr>
              <a:buClr>
                <a:srgbClr val="00B0F0"/>
              </a:buClr>
              <a:buFont typeface="Courier New" panose="02070309020205020404" pitchFamily="49" charset="0"/>
              <a:buChar char="o"/>
            </a:pPr>
            <a:r>
              <a:rPr lang="en-US" dirty="0" smtClean="0"/>
              <a:t>Build </a:t>
            </a:r>
            <a:r>
              <a:rPr lang="en-US" dirty="0"/>
              <a:t>and push </a:t>
            </a:r>
            <a:r>
              <a:rPr lang="en-US" dirty="0" err="1"/>
              <a:t>Docker</a:t>
            </a:r>
            <a:r>
              <a:rPr lang="en-US" dirty="0"/>
              <a:t> images to </a:t>
            </a:r>
            <a:r>
              <a:rPr lang="en-US" b="1" dirty="0"/>
              <a:t>Amazon ECR (Elastic Container Registry)</a:t>
            </a:r>
            <a:r>
              <a:rPr lang="en-US" dirty="0"/>
              <a:t>. </a:t>
            </a:r>
            <a:endParaRPr lang="en-US" dirty="0" smtClean="0"/>
          </a:p>
          <a:p>
            <a:pPr>
              <a:buClr>
                <a:srgbClr val="00B0F0"/>
              </a:buClr>
              <a:buFont typeface="Courier New" panose="02070309020205020404" pitchFamily="49" charset="0"/>
              <a:buChar char="o"/>
            </a:pPr>
            <a:r>
              <a:rPr lang="en-US" dirty="0" smtClean="0"/>
              <a:t>Deploy </a:t>
            </a:r>
            <a:r>
              <a:rPr lang="en-US" dirty="0"/>
              <a:t>containerized applications on </a:t>
            </a:r>
            <a:r>
              <a:rPr lang="en-US" b="1" dirty="0"/>
              <a:t>Amazon ECS (Elastic Container Service)</a:t>
            </a:r>
            <a:r>
              <a:rPr lang="en-US" dirty="0"/>
              <a:t>.</a:t>
            </a:r>
            <a:endParaRPr lang="en-US" dirty="0"/>
          </a:p>
        </p:txBody>
      </p:sp>
    </p:spTree>
    <p:extLst>
      <p:ext uri="{BB962C8B-B14F-4D97-AF65-F5344CB8AC3E}">
        <p14:creationId xmlns:p14="http://schemas.microsoft.com/office/powerpoint/2010/main" val="180284961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a:t>Architecture Overview</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49812"/>
          </a:xfrm>
        </p:spPr>
        <p:txBody>
          <a:bodyPr/>
          <a:lstStyle/>
          <a:p>
            <a:pPr marL="342900" lvl="1" indent="-342900">
              <a:spcBef>
                <a:spcPts val="1600"/>
              </a:spcBef>
              <a:buClr>
                <a:srgbClr val="00B0F0"/>
              </a:buClr>
              <a:buSzPct val="105000"/>
              <a:buFont typeface="Courier New" panose="02070309020205020404" pitchFamily="49" charset="0"/>
              <a:buChar char="o"/>
            </a:pPr>
            <a:r>
              <a:rPr lang="en-US" dirty="0"/>
              <a:t>The deployment flow looks like this</a:t>
            </a:r>
            <a:r>
              <a:rPr lang="en-US" dirty="0" smtClean="0"/>
              <a:t>:</a:t>
            </a:r>
            <a:endParaRPr lang="en-IN" dirty="0"/>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76722" y="988541"/>
            <a:ext cx="6334125" cy="51404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862287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US" dirty="0" smtClean="0"/>
              <a:t>AWS </a:t>
            </a:r>
            <a:r>
              <a:rPr lang="en-US" dirty="0" err="1" smtClean="0"/>
              <a:t>CodePipeline</a:t>
            </a:r>
            <a:r>
              <a:rPr lang="en-US" dirty="0" smtClean="0"/>
              <a:t> Setup</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49812"/>
          </a:xfrm>
        </p:spPr>
        <p:txBody>
          <a:bodyPr/>
          <a:lstStyle/>
          <a:p>
            <a:pPr marL="342900" lvl="1" indent="-342900">
              <a:spcBef>
                <a:spcPts val="1600"/>
              </a:spcBef>
              <a:buClr>
                <a:srgbClr val="00B0F0"/>
              </a:buClr>
              <a:buSzPct val="105000"/>
              <a:buFont typeface="Courier New" panose="02070309020205020404" pitchFamily="49" charset="0"/>
              <a:buChar char="o"/>
            </a:pPr>
            <a:endParaRPr lang="en-US" dirty="0"/>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821" y="1495167"/>
            <a:ext cx="9798612" cy="46832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317498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B878CF0A-9D77-4FD2-A2D8-5E627661DB47}">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863d8192-19c9-48ba-956d-c31701e6c360"/>
    <ds:schemaRef ds:uri="http://www.w3.org/XML/1998/namespace"/>
    <ds:schemaRef ds:uri="http://purl.org/dc/dcmitype/"/>
  </ds:schemaRefs>
</ds:datastoreItem>
</file>

<file path=customXml/itemProps3.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50125</TotalTime>
  <Words>73</Words>
  <Application>Microsoft Office PowerPoint</Application>
  <PresentationFormat>Custom</PresentationFormat>
  <Paragraphs>15</Paragraphs>
  <Slides>5</Slides>
  <Notes>0</Notes>
  <HiddenSlides>0</HiddenSlides>
  <MMClips>0</MMClips>
  <ScaleCrop>false</ScaleCrop>
  <HeadingPairs>
    <vt:vector size="6" baseType="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8" baseType="lpstr">
      <vt:lpstr>Infogain Theme</vt:lpstr>
      <vt:lpstr>Tenarai</vt:lpstr>
      <vt:lpstr>think-cell Slide</vt:lpstr>
      <vt:lpstr>AWS CodeBuild Part-01</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1018</cp:revision>
  <dcterms:created xsi:type="dcterms:W3CDTF">2016-11-03T07:42:20Z</dcterms:created>
  <dcterms:modified xsi:type="dcterms:W3CDTF">2026-07-28T09:09:45Z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