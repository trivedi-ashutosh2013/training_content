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4"/>
  </p:notesMasterIdLst>
  <p:sldIdLst>
    <p:sldId id="360" r:id="rId7"/>
    <p:sldId id="825" r:id="rId8"/>
    <p:sldId id="827" r:id="rId9"/>
    <p:sldId id="821" r:id="rId10"/>
    <p:sldId id="822" r:id="rId11"/>
    <p:sldId id="826" r:id="rId12"/>
    <p:sldId id="823" r:id="rId13"/>
    <p:sldId id="824" r:id="rId14"/>
    <p:sldId id="742" r:id="rId15"/>
    <p:sldId id="743" r:id="rId16"/>
    <p:sldId id="828" r:id="rId17"/>
    <p:sldId id="805" r:id="rId18"/>
    <p:sldId id="744" r:id="rId19"/>
    <p:sldId id="787" r:id="rId20"/>
    <p:sldId id="807" r:id="rId21"/>
    <p:sldId id="809" r:id="rId22"/>
    <p:sldId id="390"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5"/>
            <p14:sldId id="827"/>
            <p14:sldId id="821"/>
            <p14:sldId id="822"/>
            <p14:sldId id="826"/>
            <p14:sldId id="823"/>
            <p14:sldId id="824"/>
            <p14:sldId id="742"/>
            <p14:sldId id="743"/>
            <p14:sldId id="828"/>
            <p14:sldId id="805"/>
            <p14:sldId id="744"/>
            <p14:sldId id="787"/>
            <p14:sldId id="807"/>
            <p14:sldId id="809"/>
            <p14:sldId id="390"/>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14-08-2026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3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5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7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1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3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7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1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3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7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9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1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3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1"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5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7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9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1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3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9"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3"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7"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5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9"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31"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5"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9"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14.08.2026</a:t>
            </a:fld>
            <a:endParaRPr lang="ru-RU">
              <a:solidFill>
                <a:srgbClr val="000000"/>
              </a:solidFill>
            </a:endParaRPr>
          </a:p>
        </p:txBody>
      </p:sp>
      <p:sp>
        <p:nvSpPr>
          <p:cNvPr id="3" name="Нижний колонтитул 2">
            <a:extLst>
              <a:ext uri="{FF2B5EF4-FFF2-40B4-BE49-F238E27FC236}">
                <a16:creationId xmlns="" xmlns:a16="http://schemas.microsoft.com/office/drawing/2014/main"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 xmlns:a16="http://schemas.microsoft.com/office/drawing/2014/main"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14.08.2026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 xmlns:a16="http://schemas.microsoft.com/office/drawing/2014/main"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 xmlns:a16="http://schemas.microsoft.com/office/drawing/2014/main"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14.08.2026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9"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a16="http://schemas.microsoft.com/office/drawing/2014/main" xmlns=""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11"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xmlns=""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3"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xmlns=""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a16="http://schemas.microsoft.com/office/drawing/2014/main" xmlns=""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a16="http://schemas.microsoft.com/office/drawing/2014/main" xmlns="" id="{8BCCF240-086B-DEFA-BC9A-4868CDC7DEA8}"/>
              </a:ext>
            </a:extLst>
          </p:cNvPr>
          <p:cNvSpPr>
            <a:spLocks noGrp="1"/>
          </p:cNvSpPr>
          <p:nvPr>
            <p:ph type="ctrTitle"/>
          </p:nvPr>
        </p:nvSpPr>
        <p:spPr/>
        <p:txBody>
          <a:bodyPr vert="horz"/>
          <a:lstStyle/>
          <a:p>
            <a:r>
              <a:rPr lang="en-US" dirty="0" err="1" smtClean="0"/>
              <a:t>MLflow</a:t>
            </a:r>
            <a:r>
              <a:rPr lang="en-US" dirty="0" smtClean="0"/>
              <a:t> Part-01</a:t>
            </a:r>
            <a:endParaRPr lang="en-US" dirty="0"/>
          </a:p>
        </p:txBody>
      </p:sp>
      <p:sp>
        <p:nvSpPr>
          <p:cNvPr id="11" name="Subtitle 10">
            <a:extLst>
              <a:ext uri="{FF2B5EF4-FFF2-40B4-BE49-F238E27FC236}">
                <a16:creationId xmlns:a16="http://schemas.microsoft.com/office/drawing/2014/main" xmlns=""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3158813"/>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is an open-source platform that helps manage the complete Machine Learning lifecycle. It is one of the core tools used in </a:t>
            </a:r>
            <a:r>
              <a:rPr lang="en-US" dirty="0" err="1"/>
              <a:t>MLOps</a:t>
            </a:r>
            <a:r>
              <a:rPr lang="en-US" dirty="0"/>
              <a:t> (Machine Learning Operations</a:t>
            </a:r>
            <a:r>
              <a:rPr lang="en-US" dirty="0" smtClean="0"/>
              <a:t>).</a:t>
            </a:r>
          </a:p>
          <a:p>
            <a:pPr>
              <a:buClr>
                <a:srgbClr val="00B0F0"/>
              </a:buClr>
              <a:buFont typeface="Courier New" panose="02070309020205020404" pitchFamily="49" charset="0"/>
              <a:buChar char="o"/>
            </a:pPr>
            <a:r>
              <a:rPr lang="en-US" dirty="0"/>
              <a:t>Understand </a:t>
            </a:r>
            <a:r>
              <a:rPr lang="en-US" dirty="0" err="1"/>
              <a:t>MLflow</a:t>
            </a:r>
            <a:r>
              <a:rPr lang="en-US" dirty="0"/>
              <a:t> and its role in </a:t>
            </a:r>
            <a:r>
              <a:rPr lang="en-US" dirty="0" err="1"/>
              <a:t>MLOps</a:t>
            </a:r>
            <a:r>
              <a:rPr lang="en-US" dirty="0" smtClean="0"/>
              <a:t>.</a:t>
            </a:r>
          </a:p>
          <a:p>
            <a:pPr>
              <a:buClr>
                <a:srgbClr val="00B0F0"/>
              </a:buClr>
              <a:buFont typeface="Courier New" panose="02070309020205020404" pitchFamily="49" charset="0"/>
              <a:buChar char="o"/>
            </a:pPr>
            <a:r>
              <a:rPr lang="en-US" dirty="0" smtClean="0"/>
              <a:t>Track </a:t>
            </a:r>
            <a:r>
              <a:rPr lang="en-US" dirty="0"/>
              <a:t>experiments, parameters, metrics, and artifacts</a:t>
            </a:r>
            <a:r>
              <a:rPr lang="en-US" dirty="0" smtClean="0"/>
              <a:t>.</a:t>
            </a:r>
          </a:p>
          <a:p>
            <a:pPr>
              <a:buClr>
                <a:srgbClr val="00B0F0"/>
              </a:buClr>
              <a:buFont typeface="Courier New" panose="02070309020205020404" pitchFamily="49" charset="0"/>
              <a:buChar char="o"/>
            </a:pPr>
            <a:r>
              <a:rPr lang="en-US" dirty="0" smtClean="0"/>
              <a:t>Manage </a:t>
            </a:r>
            <a:r>
              <a:rPr lang="en-US" dirty="0"/>
              <a:t>and version ML models</a:t>
            </a:r>
            <a:r>
              <a:rPr lang="en-US" dirty="0" smtClean="0"/>
              <a:t>.</a:t>
            </a:r>
          </a:p>
          <a:p>
            <a:pPr>
              <a:buClr>
                <a:srgbClr val="00B0F0"/>
              </a:buClr>
              <a:buFont typeface="Courier New" panose="02070309020205020404" pitchFamily="49" charset="0"/>
              <a:buChar char="o"/>
            </a:pPr>
            <a:r>
              <a:rPr lang="en-US" dirty="0" smtClean="0"/>
              <a:t>Use </a:t>
            </a:r>
            <a:r>
              <a:rPr lang="en-US" dirty="0"/>
              <a:t>the </a:t>
            </a:r>
            <a:r>
              <a:rPr lang="en-US" dirty="0" err="1"/>
              <a:t>MLflow</a:t>
            </a:r>
            <a:r>
              <a:rPr lang="en-US" dirty="0"/>
              <a:t> Model Registry</a:t>
            </a:r>
            <a:r>
              <a:rPr lang="en-US" dirty="0" smtClean="0"/>
              <a:t>.</a:t>
            </a:r>
          </a:p>
          <a:p>
            <a:pPr>
              <a:buClr>
                <a:srgbClr val="00B0F0"/>
              </a:buClr>
              <a:buFont typeface="Courier New" panose="02070309020205020404" pitchFamily="49" charset="0"/>
              <a:buChar char="o"/>
            </a:pPr>
            <a:r>
              <a:rPr lang="en-US" dirty="0" smtClean="0"/>
              <a:t>Deploy </a:t>
            </a:r>
            <a:r>
              <a:rPr lang="en-US" dirty="0"/>
              <a:t>and serve </a:t>
            </a:r>
            <a:r>
              <a:rPr lang="en-US" dirty="0" err="1"/>
              <a:t>MLflow</a:t>
            </a:r>
            <a:r>
              <a:rPr lang="en-US" dirty="0"/>
              <a:t> models.</a:t>
            </a:r>
            <a:endParaRPr lang="en-US" dirty="0" smtClean="0"/>
          </a:p>
        </p:txBody>
      </p:sp>
    </p:spTree>
    <p:extLst>
      <p:ext uri="{BB962C8B-B14F-4D97-AF65-F5344CB8AC3E}">
        <p14:creationId xmlns:p14="http://schemas.microsoft.com/office/powerpoint/2010/main" val="2347174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What Is an </a:t>
            </a:r>
            <a:r>
              <a:rPr lang="en-US" dirty="0" err="1"/>
              <a:t>MLflow</a:t>
            </a:r>
            <a:r>
              <a:rPr lang="en-US" dirty="0"/>
              <a:t> Experiment?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1629164"/>
          </a:xfrm>
        </p:spPr>
        <p:txBody>
          <a:bodyPr/>
          <a:lstStyle/>
          <a:p>
            <a:pPr>
              <a:buClr>
                <a:srgbClr val="00B0F0"/>
              </a:buClr>
              <a:buFont typeface="Courier New" panose="02070309020205020404" pitchFamily="49" charset="0"/>
              <a:buChar char="o"/>
            </a:pPr>
            <a:r>
              <a:rPr lang="en-US" dirty="0" smtClean="0"/>
              <a:t>An </a:t>
            </a:r>
            <a:r>
              <a:rPr lang="en-US" b="1" dirty="0"/>
              <a:t>experiment</a:t>
            </a:r>
            <a:r>
              <a:rPr lang="en-US" dirty="0"/>
              <a:t> is a logical container used to organize and track related </a:t>
            </a:r>
            <a:r>
              <a:rPr lang="en-US" dirty="0" err="1"/>
              <a:t>MLflow</a:t>
            </a:r>
            <a:r>
              <a:rPr lang="en-US" dirty="0"/>
              <a:t> </a:t>
            </a:r>
            <a:r>
              <a:rPr lang="en-US" dirty="0" smtClean="0"/>
              <a:t>runs.</a:t>
            </a:r>
            <a:endParaRPr lang="en-IN" dirty="0"/>
          </a:p>
          <a:p>
            <a:pPr>
              <a:buClr>
                <a:srgbClr val="00B0F0"/>
              </a:buClr>
              <a:buFont typeface="Courier New" panose="02070309020205020404" pitchFamily="49" charset="0"/>
              <a:buChar char="o"/>
            </a:pPr>
            <a:r>
              <a:rPr lang="en-US" dirty="0" smtClean="0"/>
              <a:t>For </a:t>
            </a:r>
            <a:r>
              <a:rPr lang="en-US" dirty="0"/>
              <a:t>example, suppose you’re experimenting with different machine learning models or </a:t>
            </a:r>
            <a:r>
              <a:rPr lang="en-US" dirty="0" err="1"/>
              <a:t>hyperparameters</a:t>
            </a:r>
            <a:r>
              <a:rPr lang="en-US" dirty="0"/>
              <a:t>. You can keep all the related runs inside a single experiment and compare them </a:t>
            </a:r>
            <a:r>
              <a:rPr lang="en-US" dirty="0" smtClean="0"/>
              <a:t>later.</a:t>
            </a:r>
            <a:endParaRPr lang="en-IN" dirty="0"/>
          </a:p>
          <a:p>
            <a:pPr>
              <a:buClr>
                <a:srgbClr val="00B0F0"/>
              </a:buClr>
              <a:buFont typeface="Courier New" panose="02070309020205020404" pitchFamily="49" charset="0"/>
              <a:buChar char="o"/>
            </a:pPr>
            <a:r>
              <a:rPr lang="en-US" dirty="0" smtClean="0"/>
              <a:t>This </a:t>
            </a:r>
            <a:r>
              <a:rPr lang="en-US" dirty="0"/>
              <a:t>makes it much easier to organize your machine learning workflow</a:t>
            </a:r>
            <a:endParaRPr lang="en-US" dirty="0" smtClean="0"/>
          </a:p>
        </p:txBody>
      </p:sp>
    </p:spTree>
    <p:extLst>
      <p:ext uri="{BB962C8B-B14F-4D97-AF65-F5344CB8AC3E}">
        <p14:creationId xmlns:p14="http://schemas.microsoft.com/office/powerpoint/2010/main" val="7954644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CA" dirty="0" err="1"/>
              <a:t>MLflow</a:t>
            </a:r>
            <a:r>
              <a:rPr lang="en-CA" dirty="0"/>
              <a:t> </a:t>
            </a:r>
            <a:r>
              <a:rPr lang="en-CA" dirty="0" err="1"/>
              <a:t>set_experiment</a:t>
            </a:r>
            <a:r>
              <a:rPr lang="en-CA" dirty="0"/>
              <a:t>() </a:t>
            </a:r>
            <a:r>
              <a:rPr lang="en-CA" dirty="0" smtClean="0"/>
              <a:t>&amp; </a:t>
            </a:r>
            <a:r>
              <a:rPr lang="en-US" dirty="0" err="1"/>
              <a:t>create_experiment</a:t>
            </a:r>
            <a:r>
              <a:rPr lang="en-US" dirty="0"/>
              <a:t>() </a:t>
            </a:r>
            <a:r>
              <a:rPr lang="en-CA" dirty="0" smtClean="0"/>
              <a:t>Function</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885918"/>
          </a:xfrm>
        </p:spPr>
        <p:txBody>
          <a:bodyPr/>
          <a:lstStyle/>
          <a:p>
            <a:pPr>
              <a:buClr>
                <a:srgbClr val="00B0F0"/>
              </a:buClr>
              <a:buFont typeface="Courier New" panose="02070309020205020404" pitchFamily="49" charset="0"/>
              <a:buChar char="o"/>
            </a:pPr>
            <a:r>
              <a:rPr lang="en-US" dirty="0" smtClean="0"/>
              <a:t>The </a:t>
            </a:r>
            <a:r>
              <a:rPr lang="en-US" b="1" dirty="0" err="1"/>
              <a:t>create_experiment</a:t>
            </a:r>
            <a:r>
              <a:rPr lang="en-US" dirty="0"/>
              <a:t>() function is used when we want to create a new experiment. On the other hand, </a:t>
            </a:r>
            <a:r>
              <a:rPr lang="en-US" b="1" dirty="0" err="1"/>
              <a:t>set_experiment</a:t>
            </a:r>
            <a:r>
              <a:rPr lang="en-US" dirty="0"/>
              <a:t>() is used when we want to work with an existing experiment and launch new runs inside it</a:t>
            </a:r>
            <a:r>
              <a:rPr lang="en-US" dirty="0" smtClean="0"/>
              <a:t>.</a:t>
            </a:r>
          </a:p>
          <a:p>
            <a:pPr>
              <a:buClr>
                <a:srgbClr val="00B0F0"/>
              </a:buClr>
              <a:buFont typeface="Courier New" panose="02070309020205020404" pitchFamily="49" charset="0"/>
              <a:buChar char="o"/>
            </a:pPr>
            <a:r>
              <a:rPr lang="en-US" dirty="0"/>
              <a:t>Parameters of </a:t>
            </a:r>
            <a:r>
              <a:rPr lang="en-US" dirty="0" err="1"/>
              <a:t>set_experiment</a:t>
            </a:r>
            <a:r>
              <a:rPr lang="en-US" dirty="0"/>
              <a:t>()</a:t>
            </a:r>
          </a:p>
          <a:p>
            <a:pPr>
              <a:buClr>
                <a:srgbClr val="00B0F0"/>
              </a:buClr>
              <a:buFont typeface="Courier New" panose="02070309020205020404" pitchFamily="49" charset="0"/>
              <a:buChar char="o"/>
            </a:pPr>
            <a:r>
              <a:rPr lang="en-US" dirty="0"/>
              <a:t>The </a:t>
            </a:r>
            <a:r>
              <a:rPr lang="en-US" dirty="0" err="1"/>
              <a:t>set_experiment</a:t>
            </a:r>
            <a:r>
              <a:rPr lang="en-US" dirty="0"/>
              <a:t>() function primarily works with two parameters:</a:t>
            </a:r>
          </a:p>
          <a:p>
            <a:pPr lvl="1">
              <a:buClr>
                <a:srgbClr val="00B0F0"/>
              </a:buClr>
              <a:buFont typeface="Courier New" panose="02070309020205020404" pitchFamily="49" charset="0"/>
              <a:buChar char="o"/>
            </a:pPr>
            <a:r>
              <a:rPr lang="en-US" dirty="0" smtClean="0"/>
              <a:t>Experiment </a:t>
            </a:r>
            <a:r>
              <a:rPr lang="en-US" dirty="0"/>
              <a:t>name</a:t>
            </a:r>
          </a:p>
          <a:p>
            <a:pPr lvl="1">
              <a:buClr>
                <a:srgbClr val="00B0F0"/>
              </a:buClr>
              <a:buFont typeface="Courier New" panose="02070309020205020404" pitchFamily="49" charset="0"/>
              <a:buChar char="o"/>
            </a:pPr>
            <a:r>
              <a:rPr lang="en-US" dirty="0" smtClean="0"/>
              <a:t>Experiment </a:t>
            </a:r>
            <a:r>
              <a:rPr lang="en-US" dirty="0"/>
              <a:t>ID</a:t>
            </a:r>
          </a:p>
          <a:p>
            <a:pPr>
              <a:buClr>
                <a:srgbClr val="00B0F0"/>
              </a:buClr>
              <a:buFont typeface="Courier New" panose="02070309020205020404" pitchFamily="49" charset="0"/>
              <a:buChar char="o"/>
            </a:pPr>
            <a:endParaRPr lang="en-US" dirty="0" smtClean="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Parameters of </a:t>
            </a:r>
            <a:r>
              <a:rPr lang="en-US" dirty="0" err="1"/>
              <a:t>set_experiment</a:t>
            </a:r>
            <a:r>
              <a:rPr lang="en-US" dirty="0"/>
              <a: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3768211"/>
          </a:xfrm>
        </p:spPr>
        <p:txBody>
          <a:bodyPr/>
          <a:lstStyle/>
          <a:p>
            <a:pPr>
              <a:buClr>
                <a:srgbClr val="00B0F0"/>
              </a:buClr>
              <a:buFont typeface="Courier New" panose="02070309020205020404" pitchFamily="49" charset="0"/>
              <a:buChar char="o"/>
            </a:pPr>
            <a:r>
              <a:rPr lang="en-US" b="1" dirty="0" smtClean="0"/>
              <a:t>1</a:t>
            </a:r>
            <a:r>
              <a:rPr lang="en-US" b="1" dirty="0"/>
              <a:t>. Experiment Name</a:t>
            </a:r>
          </a:p>
          <a:p>
            <a:pPr>
              <a:buClr>
                <a:srgbClr val="00B0F0"/>
              </a:buClr>
              <a:buFont typeface="Courier New" panose="02070309020205020404" pitchFamily="49" charset="0"/>
              <a:buChar char="o"/>
            </a:pPr>
            <a:r>
              <a:rPr lang="en-US" dirty="0"/>
              <a:t>The first parameter allows us to specify the name of an experiment that we want to work with.</a:t>
            </a:r>
          </a:p>
          <a:p>
            <a:pPr>
              <a:buClr>
                <a:srgbClr val="00B0F0"/>
              </a:buClr>
              <a:buFont typeface="Courier New" panose="02070309020205020404" pitchFamily="49" charset="0"/>
              <a:buChar char="o"/>
            </a:pPr>
            <a:r>
              <a:rPr lang="en-US" dirty="0"/>
              <a:t>For example, suppose we have already created multiple experiments. We can pass the name of any existing experiment to make it the active experiment:</a:t>
            </a:r>
          </a:p>
          <a:p>
            <a:pPr lvl="1">
              <a:buClr>
                <a:srgbClr val="00B0F0"/>
              </a:buClr>
              <a:buFont typeface="Courier New" panose="02070309020205020404" pitchFamily="49" charset="0"/>
              <a:buChar char="o"/>
            </a:pPr>
            <a:r>
              <a:rPr lang="en-US" b="1" dirty="0" err="1"/>
              <a:t>mlflow.set_experiment</a:t>
            </a:r>
            <a:r>
              <a:rPr lang="en-US" b="1" dirty="0"/>
              <a:t>("experiment_1")</a:t>
            </a:r>
          </a:p>
          <a:p>
            <a:pPr>
              <a:buClr>
                <a:srgbClr val="00B0F0"/>
              </a:buClr>
              <a:buFont typeface="Courier New" panose="02070309020205020404" pitchFamily="49" charset="0"/>
              <a:buChar char="o"/>
            </a:pPr>
            <a:r>
              <a:rPr lang="en-US" dirty="0"/>
              <a:t>An important point to remember is that if the specified experiment name does not exist, </a:t>
            </a:r>
            <a:r>
              <a:rPr lang="en-US" dirty="0" err="1"/>
              <a:t>MLflow</a:t>
            </a:r>
            <a:r>
              <a:rPr lang="en-US" dirty="0"/>
              <a:t> will create a new experiment with that name.</a:t>
            </a:r>
          </a:p>
          <a:p>
            <a:pPr>
              <a:buClr>
                <a:srgbClr val="00B0F0"/>
              </a:buClr>
              <a:buFont typeface="Courier New" panose="02070309020205020404" pitchFamily="49" charset="0"/>
              <a:buChar char="o"/>
            </a:pPr>
            <a:r>
              <a:rPr lang="en-US" dirty="0"/>
              <a:t>We have actually seen this behavior in the first </a:t>
            </a:r>
            <a:r>
              <a:rPr lang="en-US" dirty="0" err="1"/>
              <a:t>MLflow</a:t>
            </a:r>
            <a:r>
              <a:rPr lang="en-US" dirty="0"/>
              <a:t> example. When we specified experiment_1 and it did not already exist, </a:t>
            </a:r>
            <a:r>
              <a:rPr lang="en-US" dirty="0" err="1"/>
              <a:t>MLflow</a:t>
            </a:r>
            <a:r>
              <a:rPr lang="en-US" dirty="0"/>
              <a:t> automatically created it.</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Parameters of </a:t>
            </a:r>
            <a:r>
              <a:rPr lang="en-US" dirty="0" err="1"/>
              <a:t>set_experiment</a:t>
            </a:r>
            <a:r>
              <a:rPr lang="en-US" dirty="0"/>
              <a: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139047"/>
          </a:xfrm>
        </p:spPr>
        <p:txBody>
          <a:bodyPr/>
          <a:lstStyle/>
          <a:p>
            <a:pPr>
              <a:buClr>
                <a:srgbClr val="00B0F0"/>
              </a:buClr>
              <a:buFont typeface="Courier New" panose="02070309020205020404" pitchFamily="49" charset="0"/>
              <a:buChar char="o"/>
            </a:pPr>
            <a:r>
              <a:rPr lang="en-US" b="1" dirty="0" smtClean="0"/>
              <a:t>2</a:t>
            </a:r>
            <a:r>
              <a:rPr lang="en-US" b="1" dirty="0"/>
              <a:t>. Experiment ID</a:t>
            </a:r>
          </a:p>
          <a:p>
            <a:pPr>
              <a:buClr>
                <a:srgbClr val="00B0F0"/>
              </a:buClr>
              <a:buFont typeface="Courier New" panose="02070309020205020404" pitchFamily="49" charset="0"/>
              <a:buChar char="o"/>
            </a:pPr>
            <a:r>
              <a:rPr lang="en-US" dirty="0"/>
              <a:t>Instead of the experiment name, we can also specify an existing experiment ID.</a:t>
            </a:r>
          </a:p>
          <a:p>
            <a:pPr>
              <a:buClr>
                <a:srgbClr val="00B0F0"/>
              </a:buClr>
              <a:buFont typeface="Courier New" panose="02070309020205020404" pitchFamily="49" charset="0"/>
              <a:buChar char="o"/>
            </a:pPr>
            <a:r>
              <a:rPr lang="en-US" dirty="0"/>
              <a:t>The behavior is slightly different here.</a:t>
            </a:r>
          </a:p>
          <a:p>
            <a:pPr>
              <a:buClr>
                <a:srgbClr val="00B0F0"/>
              </a:buClr>
              <a:buFont typeface="Courier New" panose="02070309020205020404" pitchFamily="49" charset="0"/>
              <a:buChar char="o"/>
            </a:pPr>
            <a:r>
              <a:rPr lang="en-US" dirty="0"/>
              <a:t>If the specified experiment ID exists, </a:t>
            </a:r>
            <a:r>
              <a:rPr lang="en-US" dirty="0" err="1"/>
              <a:t>MLflow</a:t>
            </a:r>
            <a:r>
              <a:rPr lang="en-US" dirty="0"/>
              <a:t> sets that experiment as the active experiment. However, if the experiment ID does not exist, </a:t>
            </a:r>
            <a:r>
              <a:rPr lang="en-US" dirty="0" err="1"/>
              <a:t>MLflow</a:t>
            </a:r>
            <a:r>
              <a:rPr lang="en-US" dirty="0"/>
              <a:t> throws an exception rather than creating a new experiment.</a:t>
            </a:r>
          </a:p>
        </p:txBody>
      </p:sp>
    </p:spTree>
    <p:extLst>
      <p:ext uri="{BB962C8B-B14F-4D97-AF65-F5344CB8AC3E}">
        <p14:creationId xmlns:p14="http://schemas.microsoft.com/office/powerpoint/2010/main" val="21499984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Return Value</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5094728"/>
          </a:xfrm>
        </p:spPr>
        <p:txBody>
          <a:bodyPr/>
          <a:lstStyle/>
          <a:p>
            <a:pPr>
              <a:buClr>
                <a:srgbClr val="00B0F0"/>
              </a:buClr>
              <a:buFont typeface="Courier New" panose="02070309020205020404" pitchFamily="49" charset="0"/>
              <a:buChar char="o"/>
            </a:pPr>
            <a:r>
              <a:rPr lang="en-US" dirty="0" smtClean="0"/>
              <a:t>The </a:t>
            </a:r>
            <a:r>
              <a:rPr lang="en-US" dirty="0" err="1"/>
              <a:t>set_experiment</a:t>
            </a:r>
            <a:r>
              <a:rPr lang="en-US" dirty="0"/>
              <a:t>() function returns an </a:t>
            </a:r>
            <a:r>
              <a:rPr lang="en-US" dirty="0" err="1"/>
              <a:t>MLflow</a:t>
            </a:r>
            <a:r>
              <a:rPr lang="en-US" dirty="0"/>
              <a:t> Experiment entity representing the newly active </a:t>
            </a:r>
            <a:r>
              <a:rPr lang="en-US" dirty="0" smtClean="0"/>
              <a:t>experiment.</a:t>
            </a:r>
          </a:p>
          <a:p>
            <a:pPr>
              <a:buClr>
                <a:srgbClr val="00B0F0"/>
              </a:buClr>
              <a:buFont typeface="Courier New" panose="02070309020205020404" pitchFamily="49" charset="0"/>
              <a:buChar char="o"/>
            </a:pPr>
            <a:r>
              <a:rPr lang="en-US" dirty="0" smtClean="0"/>
              <a:t>This </a:t>
            </a:r>
            <a:r>
              <a:rPr lang="en-US" dirty="0"/>
              <a:t>experiment object contains useful information about the experiment, </a:t>
            </a:r>
            <a:r>
              <a:rPr lang="en-US" dirty="0" smtClean="0"/>
              <a:t>including</a:t>
            </a:r>
            <a:endParaRPr lang="en-US" dirty="0"/>
          </a:p>
          <a:p>
            <a:pPr lvl="1">
              <a:buClr>
                <a:srgbClr val="00B0F0"/>
              </a:buClr>
              <a:buFont typeface="Courier New" panose="02070309020205020404" pitchFamily="49" charset="0"/>
              <a:buChar char="o"/>
            </a:pPr>
            <a:r>
              <a:rPr lang="en-US" dirty="0" smtClean="0"/>
              <a:t>Experiment ID</a:t>
            </a:r>
          </a:p>
          <a:p>
            <a:pPr lvl="1">
              <a:buClr>
                <a:srgbClr val="00B0F0"/>
              </a:buClr>
              <a:buFont typeface="Courier New" panose="02070309020205020404" pitchFamily="49" charset="0"/>
              <a:buChar char="o"/>
            </a:pPr>
            <a:r>
              <a:rPr lang="en-US" dirty="0" smtClean="0"/>
              <a:t>Experiment name</a:t>
            </a:r>
          </a:p>
          <a:p>
            <a:pPr lvl="1">
              <a:buClr>
                <a:srgbClr val="00B0F0"/>
              </a:buClr>
              <a:buFont typeface="Courier New" panose="02070309020205020404" pitchFamily="49" charset="0"/>
              <a:buChar char="o"/>
            </a:pPr>
            <a:r>
              <a:rPr lang="en-US" dirty="0" smtClean="0"/>
              <a:t>Artifact location</a:t>
            </a:r>
          </a:p>
          <a:p>
            <a:pPr lvl="1">
              <a:buClr>
                <a:srgbClr val="00B0F0"/>
              </a:buClr>
              <a:buFont typeface="Courier New" panose="02070309020205020404" pitchFamily="49" charset="0"/>
              <a:buChar char="o"/>
            </a:pPr>
            <a:r>
              <a:rPr lang="en-US" dirty="0" smtClean="0"/>
              <a:t>Tags</a:t>
            </a:r>
          </a:p>
          <a:p>
            <a:pPr lvl="1">
              <a:buClr>
                <a:srgbClr val="00B0F0"/>
              </a:buClr>
              <a:buFont typeface="Courier New" panose="02070309020205020404" pitchFamily="49" charset="0"/>
              <a:buChar char="o"/>
            </a:pPr>
            <a:r>
              <a:rPr lang="en-US" dirty="0" smtClean="0"/>
              <a:t>Other </a:t>
            </a:r>
            <a:r>
              <a:rPr lang="en-US" dirty="0"/>
              <a:t>experiment </a:t>
            </a:r>
            <a:r>
              <a:rPr lang="en-US" dirty="0" smtClean="0"/>
              <a:t>metadata</a:t>
            </a:r>
          </a:p>
          <a:p>
            <a:pPr>
              <a:buClr>
                <a:srgbClr val="00B0F0"/>
              </a:buClr>
              <a:buFont typeface="Courier New" panose="02070309020205020404" pitchFamily="49" charset="0"/>
              <a:buChar char="o"/>
            </a:pPr>
            <a:r>
              <a:rPr lang="en-US" dirty="0" smtClean="0"/>
              <a:t>For example:</a:t>
            </a:r>
          </a:p>
          <a:p>
            <a:pPr lvl="1">
              <a:buClr>
                <a:srgbClr val="00B0F0"/>
              </a:buClr>
              <a:buFont typeface="Courier New" panose="02070309020205020404" pitchFamily="49" charset="0"/>
              <a:buChar char="o"/>
            </a:pPr>
            <a:r>
              <a:rPr lang="en-US" b="1" dirty="0" err="1" smtClean="0"/>
              <a:t>exp</a:t>
            </a:r>
            <a:r>
              <a:rPr lang="en-US" b="1" dirty="0" smtClean="0"/>
              <a:t> </a:t>
            </a:r>
            <a:r>
              <a:rPr lang="en-US" b="1" dirty="0"/>
              <a:t>= </a:t>
            </a:r>
            <a:r>
              <a:rPr lang="en-US" b="1" dirty="0" err="1"/>
              <a:t>mlflow.set_experiment</a:t>
            </a:r>
            <a:r>
              <a:rPr lang="en-US" b="1" dirty="0"/>
              <a:t>("experiment_1</a:t>
            </a:r>
            <a:r>
              <a:rPr lang="en-US" b="1" dirty="0" smtClean="0"/>
              <a:t>")</a:t>
            </a:r>
          </a:p>
          <a:p>
            <a:pPr>
              <a:buClr>
                <a:srgbClr val="00B0F0"/>
              </a:buClr>
              <a:buFont typeface="Courier New" panose="02070309020205020404" pitchFamily="49" charset="0"/>
              <a:buChar char="o"/>
            </a:pPr>
            <a:r>
              <a:rPr lang="en-US" dirty="0" smtClean="0"/>
              <a:t>Now</a:t>
            </a:r>
            <a:r>
              <a:rPr lang="en-US" dirty="0"/>
              <a:t>, </a:t>
            </a:r>
            <a:r>
              <a:rPr lang="en-US" dirty="0" err="1"/>
              <a:t>exp</a:t>
            </a:r>
            <a:r>
              <a:rPr lang="en-US" dirty="0"/>
              <a:t> is not simply a string. It is an Experiment object containing information about </a:t>
            </a:r>
            <a:r>
              <a:rPr lang="en-US" dirty="0" smtClean="0"/>
              <a:t>experiment_1.</a:t>
            </a:r>
          </a:p>
          <a:p>
            <a:pPr>
              <a:buClr>
                <a:srgbClr val="00B0F0"/>
              </a:buClr>
              <a:buFont typeface="Courier New" panose="02070309020205020404" pitchFamily="49" charset="0"/>
              <a:buChar char="o"/>
            </a:pPr>
            <a:r>
              <a:rPr lang="en-US" dirty="0" smtClean="0"/>
              <a:t>We </a:t>
            </a:r>
            <a:r>
              <a:rPr lang="en-US" dirty="0"/>
              <a:t>can then use this object while starting a run</a:t>
            </a:r>
            <a:r>
              <a:rPr lang="en-US" dirty="0" smtClean="0"/>
              <a:t>:</a:t>
            </a:r>
          </a:p>
          <a:p>
            <a:pPr>
              <a:buClr>
                <a:srgbClr val="00B0F0"/>
              </a:buClr>
              <a:buFont typeface="Courier New" panose="02070309020205020404" pitchFamily="49" charset="0"/>
              <a:buChar char="o"/>
            </a:pPr>
            <a:endParaRPr lang="en-US" dirty="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141" y="5784894"/>
            <a:ext cx="4843847" cy="677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2893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Practical Example</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4178580"/>
          </a:xfrm>
        </p:spPr>
        <p:txBody>
          <a:bodyPr/>
          <a:lstStyle/>
          <a:p>
            <a:pPr>
              <a:buClr>
                <a:srgbClr val="00B0F0"/>
              </a:buClr>
              <a:buFont typeface="Courier New" panose="02070309020205020404" pitchFamily="49" charset="0"/>
              <a:buChar char="o"/>
            </a:pPr>
            <a:r>
              <a:rPr lang="en-US" dirty="0" smtClean="0"/>
              <a:t>Let’s </a:t>
            </a:r>
            <a:r>
              <a:rPr lang="en-US" dirty="0"/>
              <a:t>reuse the experiment we created earlier, experiment_1</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a:t>When we execute this code, </a:t>
            </a:r>
            <a:r>
              <a:rPr lang="en-US" dirty="0" err="1"/>
              <a:t>MLflow</a:t>
            </a:r>
            <a:r>
              <a:rPr lang="en-US" dirty="0"/>
              <a:t> sets experiment_1 as the active experiment and creates the new run inside that experiment.</a:t>
            </a:r>
          </a:p>
          <a:p>
            <a:pPr>
              <a:buClr>
                <a:srgbClr val="00B0F0"/>
              </a:buClr>
              <a:buFont typeface="Courier New" panose="02070309020205020404" pitchFamily="49" charset="0"/>
              <a:buChar char="o"/>
            </a:pPr>
            <a:r>
              <a:rPr lang="en-US" dirty="0"/>
              <a:t>We can then open the </a:t>
            </a:r>
            <a:r>
              <a:rPr lang="en-US" dirty="0" err="1"/>
              <a:t>MLflow</a:t>
            </a:r>
            <a:r>
              <a:rPr lang="en-US" dirty="0"/>
              <a:t> UI and navigate to experiment_1 to verify that the new run has been created.</a:t>
            </a:r>
          </a:p>
          <a:p>
            <a:pPr>
              <a:buClr>
                <a:srgbClr val="00B0F0"/>
              </a:buClr>
              <a:buFont typeface="Courier New" panose="02070309020205020404" pitchFamily="49" charset="0"/>
              <a:buChar char="o"/>
            </a:pPr>
            <a:endParaRPr lang="en-US" dirty="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405" y="1562743"/>
            <a:ext cx="5175292" cy="1446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0317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mlflow.create_experiment</a:t>
            </a:r>
            <a:r>
              <a:rPr lang="en-IN" dirty="0"/>
              <a: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90360" y="1346886"/>
            <a:ext cx="11450409" cy="2854115"/>
          </a:xfrm>
        </p:spPr>
        <p:txBody>
          <a:bodyPr/>
          <a:lstStyle/>
          <a:p>
            <a:pPr>
              <a:buClr>
                <a:srgbClr val="00B0F0"/>
              </a:buClr>
              <a:buFont typeface="Courier New" panose="02070309020205020404" pitchFamily="49" charset="0"/>
              <a:buChar char="o"/>
            </a:pPr>
            <a:r>
              <a:rPr lang="en-US" dirty="0" smtClean="0"/>
              <a:t>As </a:t>
            </a:r>
            <a:r>
              <a:rPr lang="en-US" dirty="0"/>
              <a:t>the name suggests, </a:t>
            </a:r>
            <a:r>
              <a:rPr lang="en-US" dirty="0" err="1"/>
              <a:t>mlflow.create_experiment</a:t>
            </a:r>
            <a:r>
              <a:rPr lang="en-US" dirty="0"/>
              <a:t>() is used to </a:t>
            </a:r>
            <a:r>
              <a:rPr lang="en-US" b="1" dirty="0"/>
              <a:t>create a new </a:t>
            </a:r>
            <a:r>
              <a:rPr lang="en-US" b="1" dirty="0" smtClean="0"/>
              <a:t>experiment</a:t>
            </a:r>
            <a:r>
              <a:rPr lang="en-US" dirty="0" smtClean="0"/>
              <a:t>.</a:t>
            </a:r>
            <a:endParaRPr lang="en-IN" dirty="0"/>
          </a:p>
          <a:p>
            <a:pPr>
              <a:buClr>
                <a:srgbClr val="00B0F0"/>
              </a:buClr>
              <a:buFont typeface="Courier New" panose="02070309020205020404" pitchFamily="49" charset="0"/>
              <a:buChar char="o"/>
            </a:pPr>
            <a:r>
              <a:rPr lang="en-US" dirty="0" smtClean="0"/>
              <a:t>For </a:t>
            </a:r>
            <a:r>
              <a:rPr lang="en-US" dirty="0"/>
              <a:t>example:</a:t>
            </a:r>
            <a:endParaRPr lang="en-IN"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err="1" smtClean="0"/>
              <a:t>MLflow</a:t>
            </a:r>
            <a:r>
              <a:rPr lang="en-US" dirty="0" smtClean="0"/>
              <a:t> </a:t>
            </a:r>
            <a:r>
              <a:rPr lang="en-US" dirty="0"/>
              <a:t>creates the experiment and returns an </a:t>
            </a:r>
            <a:r>
              <a:rPr lang="en-US" b="1" dirty="0"/>
              <a:t>experiment </a:t>
            </a:r>
            <a:r>
              <a:rPr lang="en-US" b="1" dirty="0" smtClean="0"/>
              <a:t>ID</a:t>
            </a:r>
            <a:r>
              <a:rPr lang="en-US" dirty="0" smtClean="0"/>
              <a:t>.</a:t>
            </a:r>
            <a:endParaRPr lang="en-IN" dirty="0"/>
          </a:p>
          <a:p>
            <a:pPr>
              <a:buClr>
                <a:srgbClr val="00B0F0"/>
              </a:buClr>
              <a:buFont typeface="Courier New" panose="02070309020205020404" pitchFamily="49" charset="0"/>
              <a:buChar char="o"/>
            </a:pPr>
            <a:r>
              <a:rPr lang="en-US" dirty="0" smtClean="0"/>
              <a:t>You </a:t>
            </a:r>
            <a:r>
              <a:rPr lang="en-US" dirty="0"/>
              <a:t>can then use this ID when starting a run:</a:t>
            </a:r>
            <a:endParaRPr lang="en-IN" dirty="0"/>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1530" y="2310714"/>
            <a:ext cx="6657063" cy="87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3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90" y="4711529"/>
            <a:ext cx="6703157" cy="1022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Parameters of </a:t>
            </a:r>
            <a:r>
              <a:rPr lang="en-US" dirty="0" err="1"/>
              <a:t>create_experiment</a:t>
            </a:r>
            <a:r>
              <a:rPr lang="en-US" dirty="0"/>
              <a: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5130635"/>
          </a:xfrm>
        </p:spPr>
        <p:txBody>
          <a:bodyPr/>
          <a:lstStyle/>
          <a:p>
            <a:pPr>
              <a:buClr>
                <a:srgbClr val="00B0F0"/>
              </a:buClr>
              <a:buFont typeface="Courier New" panose="02070309020205020404" pitchFamily="49" charset="0"/>
              <a:buChar char="o"/>
            </a:pPr>
            <a:r>
              <a:rPr lang="en-US" dirty="0" smtClean="0"/>
              <a:t>The </a:t>
            </a:r>
            <a:r>
              <a:rPr lang="en-US" dirty="0"/>
              <a:t>function accepts three important parameters</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Let’s understand each one.</a:t>
            </a:r>
          </a:p>
          <a:p>
            <a:pPr>
              <a:buClr>
                <a:srgbClr val="00B0F0"/>
              </a:buClr>
              <a:buFont typeface="Courier New" panose="02070309020205020404" pitchFamily="49" charset="0"/>
              <a:buChar char="o"/>
            </a:pPr>
            <a:r>
              <a:rPr lang="en-US" b="1" dirty="0" smtClean="0"/>
              <a:t>1. name</a:t>
            </a:r>
          </a:p>
          <a:p>
            <a:pPr lvl="1">
              <a:buClr>
                <a:srgbClr val="00B0F0"/>
              </a:buClr>
              <a:buFont typeface="Courier New" panose="02070309020205020404" pitchFamily="49" charset="0"/>
              <a:buChar char="o"/>
            </a:pPr>
            <a:r>
              <a:rPr lang="en-US" dirty="0" smtClean="0"/>
              <a:t>The </a:t>
            </a:r>
            <a:r>
              <a:rPr lang="en-US" dirty="0"/>
              <a:t>name parameter specifies the name of your experiment.</a:t>
            </a:r>
          </a:p>
          <a:p>
            <a:pPr>
              <a:buClr>
                <a:srgbClr val="00B0F0"/>
              </a:buClr>
              <a:buFont typeface="Courier New" panose="02070309020205020404" pitchFamily="49" charset="0"/>
              <a:buChar char="o"/>
            </a:pPr>
            <a:r>
              <a:rPr lang="en-US" dirty="0"/>
              <a:t>For example:</a:t>
            </a:r>
          </a:p>
          <a:p>
            <a:pPr lvl="1">
              <a:buClr>
                <a:srgbClr val="00B0F0"/>
              </a:buClr>
              <a:buFont typeface="Courier New" panose="02070309020205020404" pitchFamily="49" charset="0"/>
              <a:buChar char="o"/>
            </a:pPr>
            <a:r>
              <a:rPr lang="en-US" dirty="0" err="1"/>
              <a:t>experiment_id</a:t>
            </a:r>
            <a:r>
              <a:rPr lang="en-US" dirty="0"/>
              <a:t> = </a:t>
            </a:r>
            <a:r>
              <a:rPr lang="en-US" dirty="0" err="1"/>
              <a:t>mlflow.create_experiment</a:t>
            </a:r>
            <a:r>
              <a:rPr lang="en-US" dirty="0"/>
              <a:t>("My Experiment")</a:t>
            </a:r>
          </a:p>
          <a:p>
            <a:pPr>
              <a:buClr>
                <a:srgbClr val="00B0F0"/>
              </a:buClr>
              <a:buFont typeface="Courier New" panose="02070309020205020404" pitchFamily="49" charset="0"/>
              <a:buChar char="o"/>
            </a:pPr>
            <a:r>
              <a:rPr lang="en-US" dirty="0"/>
              <a:t>The experiment name should be unique within the </a:t>
            </a:r>
            <a:r>
              <a:rPr lang="en-US" dirty="0" err="1"/>
              <a:t>MLflow</a:t>
            </a:r>
            <a:r>
              <a:rPr lang="en-US" dirty="0"/>
              <a:t> tracking store</a:t>
            </a:r>
            <a:r>
              <a:rPr lang="en-US" dirty="0" smtClean="0"/>
              <a:t>.</a:t>
            </a:r>
          </a:p>
          <a:p>
            <a:pPr>
              <a:buClr>
                <a:srgbClr val="00B0F0"/>
              </a:buClr>
              <a:buFont typeface="Courier New" panose="02070309020205020404" pitchFamily="49" charset="0"/>
              <a:buChar char="o"/>
            </a:pPr>
            <a:endParaRPr lang="en-IN" dirty="0"/>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822" y="1717589"/>
            <a:ext cx="38658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Parameters of </a:t>
            </a:r>
            <a:r>
              <a:rPr lang="en-US" dirty="0" err="1"/>
              <a:t>create_experiment</a:t>
            </a:r>
            <a:r>
              <a:rPr lang="en-US" dirty="0"/>
              <a: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1324465"/>
          </a:xfrm>
        </p:spPr>
        <p:txBody>
          <a:bodyPr/>
          <a:lstStyle/>
          <a:p>
            <a:pPr>
              <a:buClr>
                <a:srgbClr val="00B0F0"/>
              </a:buClr>
              <a:buFont typeface="Courier New" panose="02070309020205020404" pitchFamily="49" charset="0"/>
              <a:buChar char="o"/>
            </a:pPr>
            <a:r>
              <a:rPr lang="en-US" b="1" dirty="0" smtClean="0"/>
              <a:t>2</a:t>
            </a:r>
            <a:r>
              <a:rPr lang="en-US" b="1" dirty="0"/>
              <a:t>. </a:t>
            </a:r>
            <a:r>
              <a:rPr lang="en-US" b="1" dirty="0" err="1" smtClean="0"/>
              <a:t>artifact_location</a:t>
            </a:r>
            <a:endParaRPr lang="en-IN" b="1" dirty="0"/>
          </a:p>
          <a:p>
            <a:pPr>
              <a:buClr>
                <a:srgbClr val="00B0F0"/>
              </a:buClr>
              <a:buFont typeface="Courier New" panose="02070309020205020404" pitchFamily="49" charset="0"/>
              <a:buChar char="o"/>
            </a:pPr>
            <a:r>
              <a:rPr lang="en-US" dirty="0" smtClean="0"/>
              <a:t>The </a:t>
            </a:r>
            <a:r>
              <a:rPr lang="en-US" dirty="0" err="1"/>
              <a:t>artifact_location</a:t>
            </a:r>
            <a:r>
              <a:rPr lang="en-US" dirty="0"/>
              <a:t> parameter is </a:t>
            </a:r>
            <a:r>
              <a:rPr lang="en-US" dirty="0" smtClean="0"/>
              <a:t>optional.</a:t>
            </a:r>
            <a:endParaRPr lang="en-IN" dirty="0"/>
          </a:p>
          <a:p>
            <a:pPr>
              <a:buClr>
                <a:srgbClr val="00B0F0"/>
              </a:buClr>
              <a:buFont typeface="Courier New" panose="02070309020205020404" pitchFamily="49" charset="0"/>
              <a:buChar char="o"/>
            </a:pPr>
            <a:r>
              <a:rPr lang="en-US" dirty="0" smtClean="0"/>
              <a:t>It </a:t>
            </a:r>
            <a:r>
              <a:rPr lang="en-US" dirty="0"/>
              <a:t>allows you to specify </a:t>
            </a:r>
            <a:r>
              <a:rPr lang="en-US" b="1" dirty="0"/>
              <a:t>where the artifacts generated by runs inside this experiment should be stored</a:t>
            </a:r>
            <a:r>
              <a:rPr lang="en-US" dirty="0"/>
              <a:t>.</a:t>
            </a:r>
            <a:endParaRPr lang="en-IN" dirty="0"/>
          </a:p>
        </p:txBody>
      </p:sp>
    </p:spTree>
    <p:extLst>
      <p:ext uri="{BB962C8B-B14F-4D97-AF65-F5344CB8AC3E}">
        <p14:creationId xmlns:p14="http://schemas.microsoft.com/office/powerpoint/2010/main" val="36086196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a:t>MLflow</a:t>
            </a:r>
            <a:r>
              <a:rPr lang="en-IN" dirty="0"/>
              <a:t> Run Management Functions</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3427605"/>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provides several functions for handling runs, </a:t>
            </a:r>
            <a:r>
              <a:rPr lang="en-US" dirty="0" smtClean="0"/>
              <a:t>including:</a:t>
            </a:r>
          </a:p>
          <a:p>
            <a:pPr lvl="1">
              <a:buClr>
                <a:srgbClr val="00B0F0"/>
              </a:buClr>
              <a:buFont typeface="Courier New" panose="02070309020205020404" pitchFamily="49" charset="0"/>
              <a:buChar char="o"/>
            </a:pPr>
            <a:r>
              <a:rPr lang="en-US" dirty="0" err="1" smtClean="0"/>
              <a:t>mlflow.start_run</a:t>
            </a:r>
            <a:r>
              <a:rPr lang="en-US" dirty="0" smtClean="0"/>
              <a:t>()</a:t>
            </a:r>
          </a:p>
          <a:p>
            <a:pPr lvl="1">
              <a:buClr>
                <a:srgbClr val="00B0F0"/>
              </a:buClr>
              <a:buFont typeface="Courier New" panose="02070309020205020404" pitchFamily="49" charset="0"/>
              <a:buChar char="o"/>
            </a:pPr>
            <a:r>
              <a:rPr lang="en-US" dirty="0" err="1" smtClean="0"/>
              <a:t>mlflow.end_run</a:t>
            </a:r>
            <a:r>
              <a:rPr lang="en-US" dirty="0" smtClean="0"/>
              <a:t>()</a:t>
            </a:r>
          </a:p>
          <a:p>
            <a:pPr lvl="1">
              <a:buClr>
                <a:srgbClr val="00B0F0"/>
              </a:buClr>
              <a:buFont typeface="Courier New" panose="02070309020205020404" pitchFamily="49" charset="0"/>
              <a:buChar char="o"/>
            </a:pPr>
            <a:r>
              <a:rPr lang="en-US" dirty="0" err="1" smtClean="0"/>
              <a:t>mlflow.active_run</a:t>
            </a:r>
            <a:r>
              <a:rPr lang="en-US" dirty="0" smtClean="0"/>
              <a:t>()</a:t>
            </a:r>
          </a:p>
          <a:p>
            <a:pPr lvl="1">
              <a:buClr>
                <a:srgbClr val="00B0F0"/>
              </a:buClr>
              <a:buFont typeface="Courier New" panose="02070309020205020404" pitchFamily="49" charset="0"/>
              <a:buChar char="o"/>
            </a:pPr>
            <a:r>
              <a:rPr lang="en-US" dirty="0" err="1" smtClean="0"/>
              <a:t>mlflow.last_active_run</a:t>
            </a:r>
            <a:r>
              <a:rPr lang="en-US" dirty="0" smtClean="0"/>
              <a:t>()</a:t>
            </a:r>
          </a:p>
          <a:p>
            <a:pPr>
              <a:buClr>
                <a:srgbClr val="00B0F0"/>
              </a:buClr>
              <a:buFont typeface="Courier New" panose="02070309020205020404" pitchFamily="49" charset="0"/>
              <a:buChar char="o"/>
            </a:pPr>
            <a:r>
              <a:rPr lang="en-US" dirty="0" smtClean="0"/>
              <a:t>Among </a:t>
            </a:r>
            <a:r>
              <a:rPr lang="en-US" dirty="0"/>
              <a:t>these, </a:t>
            </a:r>
            <a:r>
              <a:rPr lang="en-US" dirty="0" err="1"/>
              <a:t>mlflow.start_run</a:t>
            </a:r>
            <a:r>
              <a:rPr lang="en-US" dirty="0"/>
              <a:t>() is the function we have been using throughout the course to start runs inside our experiments.</a:t>
            </a:r>
          </a:p>
          <a:p>
            <a:pPr marL="0" indent="0">
              <a:buClr>
                <a:srgbClr val="00B0F0"/>
              </a:buClr>
              <a:buNone/>
            </a:pPr>
            <a:r>
              <a:rPr lang="en-US" dirty="0" smtClean="0"/>
              <a:t/>
            </a:r>
            <a:br>
              <a:rPr lang="en-US" dirty="0" smtClean="0"/>
            </a:br>
            <a:endParaRPr lang="en-US" dirty="0"/>
          </a:p>
        </p:txBody>
      </p:sp>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err="1" smtClean="0"/>
              <a:t>MLflow</a:t>
            </a:r>
            <a:r>
              <a:rPr lang="en-IN" dirty="0" smtClean="0"/>
              <a:t> </a:t>
            </a:r>
            <a:r>
              <a:rPr lang="en-IN" dirty="0"/>
              <a:t>Tracking</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3359894"/>
          </a:xfrm>
        </p:spPr>
        <p:txBody>
          <a:bodyPr/>
          <a:lstStyle/>
          <a:p>
            <a:pPr>
              <a:buClr>
                <a:srgbClr val="00B0F0"/>
              </a:buClr>
              <a:buFont typeface="Courier New" panose="02070309020205020404" pitchFamily="49" charset="0"/>
              <a:buChar char="o"/>
            </a:pPr>
            <a:r>
              <a:rPr lang="en-US" dirty="0" smtClean="0"/>
              <a:t>Machine </a:t>
            </a:r>
            <a:r>
              <a:rPr lang="en-US" dirty="0"/>
              <a:t>learning development is fundamentally an experimental process. Data scientists rarely train a model just once. Instead, they perform numerous experiments by changing:</a:t>
            </a:r>
          </a:p>
          <a:p>
            <a:pPr lvl="1">
              <a:buClr>
                <a:srgbClr val="00B0F0"/>
              </a:buClr>
              <a:buFont typeface="Courier New" panose="02070309020205020404" pitchFamily="49" charset="0"/>
              <a:buChar char="o"/>
            </a:pPr>
            <a:r>
              <a:rPr lang="en-US" dirty="0" smtClean="0"/>
              <a:t>Training </a:t>
            </a:r>
            <a:r>
              <a:rPr lang="en-US" dirty="0"/>
              <a:t>datasets</a:t>
            </a:r>
          </a:p>
          <a:p>
            <a:pPr lvl="1">
              <a:buClr>
                <a:srgbClr val="00B0F0"/>
              </a:buClr>
              <a:buFont typeface="Courier New" panose="02070309020205020404" pitchFamily="49" charset="0"/>
              <a:buChar char="o"/>
            </a:pPr>
            <a:r>
              <a:rPr lang="en-US" dirty="0" smtClean="0"/>
              <a:t>Feature </a:t>
            </a:r>
            <a:r>
              <a:rPr lang="en-US" dirty="0"/>
              <a:t>sets</a:t>
            </a:r>
          </a:p>
          <a:p>
            <a:pPr lvl="1">
              <a:buClr>
                <a:srgbClr val="00B0F0"/>
              </a:buClr>
              <a:buFont typeface="Courier New" panose="02070309020205020404" pitchFamily="49" charset="0"/>
              <a:buChar char="o"/>
            </a:pPr>
            <a:r>
              <a:rPr lang="en-US" dirty="0" smtClean="0"/>
              <a:t>Model </a:t>
            </a:r>
            <a:r>
              <a:rPr lang="en-US" dirty="0"/>
              <a:t>architectures</a:t>
            </a:r>
          </a:p>
          <a:p>
            <a:pPr lvl="1">
              <a:buClr>
                <a:srgbClr val="00B0F0"/>
              </a:buClr>
              <a:buFont typeface="Courier New" panose="02070309020205020404" pitchFamily="49" charset="0"/>
              <a:buChar char="o"/>
            </a:pPr>
            <a:r>
              <a:rPr lang="en-US" dirty="0" err="1" smtClean="0"/>
              <a:t>Hyperparameters</a:t>
            </a:r>
            <a:endParaRPr lang="en-US" dirty="0"/>
          </a:p>
          <a:p>
            <a:pPr lvl="1">
              <a:buClr>
                <a:srgbClr val="00B0F0"/>
              </a:buClr>
              <a:buFont typeface="Courier New" panose="02070309020205020404" pitchFamily="49" charset="0"/>
              <a:buChar char="o"/>
            </a:pPr>
            <a:r>
              <a:rPr lang="en-US" dirty="0" smtClean="0"/>
              <a:t>Source </a:t>
            </a:r>
            <a:r>
              <a:rPr lang="en-US" dirty="0"/>
              <a:t>code</a:t>
            </a:r>
          </a:p>
          <a:p>
            <a:pPr lvl="1">
              <a:buClr>
                <a:srgbClr val="00B0F0"/>
              </a:buClr>
              <a:buFont typeface="Courier New" panose="02070309020205020404" pitchFamily="49" charset="0"/>
              <a:buChar char="o"/>
            </a:pPr>
            <a:r>
              <a:rPr lang="en-US" dirty="0" smtClean="0"/>
              <a:t>Evaluation </a:t>
            </a:r>
            <a:r>
              <a:rPr lang="en-US" dirty="0"/>
              <a:t>strategies</a:t>
            </a:r>
          </a:p>
          <a:p>
            <a:pPr>
              <a:buClr>
                <a:srgbClr val="00B0F0"/>
              </a:buClr>
              <a:buFont typeface="Courier New" panose="02070309020205020404" pitchFamily="49" charset="0"/>
              <a:buChar char="o"/>
            </a:pPr>
            <a:r>
              <a:rPr lang="en-US" dirty="0"/>
              <a:t>The objective is to identify the best-performing model through continuous experimentation.</a:t>
            </a:r>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The Challenge</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45989" y="867034"/>
            <a:ext cx="10466173" cy="5499967"/>
          </a:xfrm>
        </p:spPr>
        <p:txBody>
          <a:bodyPr/>
          <a:lstStyle/>
          <a:p>
            <a:pPr>
              <a:buClr>
                <a:srgbClr val="00B0F0"/>
              </a:buClr>
              <a:buFont typeface="Courier New" panose="02070309020205020404" pitchFamily="49" charset="0"/>
              <a:buChar char="o"/>
            </a:pPr>
            <a:r>
              <a:rPr lang="en-US" dirty="0" smtClean="0"/>
              <a:t>After </a:t>
            </a:r>
            <a:r>
              <a:rPr lang="en-US" dirty="0"/>
              <a:t>running dozens or even hundreds of experiments, an important question arises:</a:t>
            </a:r>
          </a:p>
          <a:p>
            <a:pPr lvl="1">
              <a:buClr>
                <a:srgbClr val="00B0F0"/>
              </a:buClr>
              <a:buFont typeface="Courier New" panose="02070309020205020404" pitchFamily="49" charset="0"/>
              <a:buChar char="o"/>
            </a:pPr>
            <a:r>
              <a:rPr lang="en-US" dirty="0" smtClean="0"/>
              <a:t>Which </a:t>
            </a:r>
            <a:r>
              <a:rPr lang="en-US" dirty="0"/>
              <a:t>combination of </a:t>
            </a:r>
            <a:r>
              <a:rPr lang="en-US" dirty="0" err="1"/>
              <a:t>hyperparameters</a:t>
            </a:r>
            <a:r>
              <a:rPr lang="en-US" dirty="0"/>
              <a:t> produced the best model?</a:t>
            </a:r>
          </a:p>
          <a:p>
            <a:pPr lvl="1">
              <a:buClr>
                <a:srgbClr val="00B0F0"/>
              </a:buClr>
              <a:buFont typeface="Courier New" panose="02070309020205020404" pitchFamily="49" charset="0"/>
              <a:buChar char="o"/>
            </a:pPr>
            <a:r>
              <a:rPr lang="en-US" dirty="0" smtClean="0"/>
              <a:t>Which </a:t>
            </a:r>
            <a:r>
              <a:rPr lang="en-US" dirty="0"/>
              <a:t>version of the code was used?</a:t>
            </a:r>
          </a:p>
          <a:p>
            <a:pPr lvl="1">
              <a:buClr>
                <a:srgbClr val="00B0F0"/>
              </a:buClr>
              <a:buFont typeface="Courier New" panose="02070309020205020404" pitchFamily="49" charset="0"/>
              <a:buChar char="o"/>
            </a:pPr>
            <a:r>
              <a:rPr lang="en-US" dirty="0" smtClean="0"/>
              <a:t>Which </a:t>
            </a:r>
            <a:r>
              <a:rPr lang="en-US" dirty="0"/>
              <a:t>dataset was used for training?</a:t>
            </a:r>
          </a:p>
          <a:p>
            <a:pPr lvl="1">
              <a:buClr>
                <a:srgbClr val="00B0F0"/>
              </a:buClr>
              <a:buFont typeface="Courier New" panose="02070309020205020404" pitchFamily="49" charset="0"/>
              <a:buChar char="o"/>
            </a:pPr>
            <a:r>
              <a:rPr lang="en-US" dirty="0" smtClean="0"/>
              <a:t>What </a:t>
            </a:r>
            <a:r>
              <a:rPr lang="en-US" dirty="0"/>
              <a:t>evaluation metrics did the model achieve?</a:t>
            </a:r>
          </a:p>
          <a:p>
            <a:pPr lvl="1">
              <a:buClr>
                <a:srgbClr val="00B0F0"/>
              </a:buClr>
              <a:buFont typeface="Courier New" panose="02070309020205020404" pitchFamily="49" charset="0"/>
              <a:buChar char="o"/>
            </a:pPr>
            <a:r>
              <a:rPr lang="en-US" dirty="0" smtClean="0"/>
              <a:t>Can </a:t>
            </a:r>
            <a:r>
              <a:rPr lang="en-US" dirty="0"/>
              <a:t>another team member reproduce the same results?</a:t>
            </a:r>
          </a:p>
          <a:p>
            <a:pPr>
              <a:buClr>
                <a:srgbClr val="00B0F0"/>
              </a:buClr>
              <a:buFont typeface="Courier New" panose="02070309020205020404" pitchFamily="49" charset="0"/>
              <a:buChar char="o"/>
            </a:pPr>
            <a:r>
              <a:rPr lang="en-US" dirty="0"/>
              <a:t>Traditionally, many data scientists manually maintain experiment records using local folders, spreadsheets, or files with names such as:</a:t>
            </a:r>
          </a:p>
          <a:p>
            <a:pPr lvl="1">
              <a:buClr>
                <a:srgbClr val="00B0F0"/>
              </a:buClr>
              <a:buFont typeface="Courier New" panose="02070309020205020404" pitchFamily="49" charset="0"/>
              <a:buChar char="o"/>
            </a:pPr>
            <a:r>
              <a:rPr lang="en-US" dirty="0" smtClean="0"/>
              <a:t>final_model.py</a:t>
            </a:r>
            <a:endParaRPr lang="en-US" dirty="0"/>
          </a:p>
          <a:p>
            <a:pPr lvl="1">
              <a:buClr>
                <a:srgbClr val="00B0F0"/>
              </a:buClr>
              <a:buFont typeface="Courier New" panose="02070309020205020404" pitchFamily="49" charset="0"/>
              <a:buChar char="o"/>
            </a:pPr>
            <a:r>
              <a:rPr lang="en-US" dirty="0" smtClean="0"/>
              <a:t>final_model_v2.py</a:t>
            </a:r>
            <a:endParaRPr lang="en-US" dirty="0"/>
          </a:p>
          <a:p>
            <a:pPr lvl="1">
              <a:buClr>
                <a:srgbClr val="00B0F0"/>
              </a:buClr>
              <a:buFont typeface="Courier New" panose="02070309020205020404" pitchFamily="49" charset="0"/>
              <a:buChar char="o"/>
            </a:pPr>
            <a:r>
              <a:rPr lang="en-US" dirty="0" smtClean="0"/>
              <a:t>final_latest.py</a:t>
            </a:r>
            <a:endParaRPr lang="en-US" dirty="0"/>
          </a:p>
          <a:p>
            <a:pPr lvl="1">
              <a:buClr>
                <a:srgbClr val="00B0F0"/>
              </a:buClr>
              <a:buFont typeface="Courier New" panose="02070309020205020404" pitchFamily="49" charset="0"/>
              <a:buChar char="o"/>
            </a:pPr>
            <a:r>
              <a:rPr lang="en-US" dirty="0" smtClean="0"/>
              <a:t>final_latest_new.py</a:t>
            </a:r>
            <a:endParaRPr lang="en-US" dirty="0"/>
          </a:p>
          <a:p>
            <a:pPr>
              <a:buClr>
                <a:srgbClr val="00B0F0"/>
              </a:buClr>
              <a:buFont typeface="Courier New" panose="02070309020205020404" pitchFamily="49" charset="0"/>
              <a:buChar char="o"/>
            </a:pPr>
            <a:r>
              <a:rPr lang="en-US" dirty="0"/>
              <a:t>This approach quickly becomes difficult to manage, especially in collaborative environments.</a:t>
            </a:r>
          </a:p>
          <a:p>
            <a:endParaRPr lang="en-US" dirty="0"/>
          </a:p>
        </p:txBody>
      </p:sp>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How </a:t>
            </a:r>
            <a:r>
              <a:rPr lang="en-US" dirty="0" err="1"/>
              <a:t>MLflow</a:t>
            </a:r>
            <a:r>
              <a:rPr lang="en-US" dirty="0"/>
              <a:t> Tracking Solves the Problem</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457200" y="965887"/>
            <a:ext cx="10898659" cy="5058821"/>
          </a:xfrm>
        </p:spPr>
        <p:txBody>
          <a:bodyPr/>
          <a:lstStyle/>
          <a:p>
            <a:pPr>
              <a:buClr>
                <a:srgbClr val="00B0F0"/>
              </a:buClr>
              <a:buFont typeface="Courier New" panose="02070309020205020404" pitchFamily="49" charset="0"/>
              <a:buChar char="o"/>
            </a:pPr>
            <a:r>
              <a:rPr lang="en-IN" dirty="0" err="1" smtClean="0"/>
              <a:t>MLflow</a:t>
            </a:r>
            <a:r>
              <a:rPr lang="en-IN" dirty="0" smtClean="0"/>
              <a:t> </a:t>
            </a:r>
            <a:r>
              <a:rPr lang="en-IN" dirty="0"/>
              <a:t>Tracking provides a centralized way to record every machine learning </a:t>
            </a:r>
            <a:r>
              <a:rPr lang="en-IN" dirty="0" smtClean="0"/>
              <a:t>experiment.</a:t>
            </a:r>
          </a:p>
          <a:p>
            <a:pPr>
              <a:buClr>
                <a:srgbClr val="00B0F0"/>
              </a:buClr>
              <a:buFont typeface="Courier New" panose="02070309020205020404" pitchFamily="49" charset="0"/>
              <a:buChar char="o"/>
            </a:pPr>
            <a:r>
              <a:rPr lang="en-IN" dirty="0" smtClean="0"/>
              <a:t>It </a:t>
            </a:r>
            <a:r>
              <a:rPr lang="en-IN" dirty="0"/>
              <a:t>automatically logs important experiment information such </a:t>
            </a:r>
            <a:r>
              <a:rPr lang="en-IN" dirty="0" smtClean="0"/>
              <a:t>as:</a:t>
            </a:r>
          </a:p>
          <a:p>
            <a:pPr lvl="1">
              <a:buClr>
                <a:srgbClr val="00B0F0"/>
              </a:buClr>
              <a:buFont typeface="Courier New" panose="02070309020205020404" pitchFamily="49" charset="0"/>
              <a:buChar char="o"/>
            </a:pPr>
            <a:r>
              <a:rPr lang="en-IN" dirty="0" err="1" smtClean="0"/>
              <a:t>Hyperparameters</a:t>
            </a:r>
            <a:endParaRPr lang="en-IN" dirty="0"/>
          </a:p>
          <a:p>
            <a:pPr lvl="1">
              <a:buClr>
                <a:srgbClr val="00B0F0"/>
              </a:buClr>
              <a:buFont typeface="Courier New" panose="02070309020205020404" pitchFamily="49" charset="0"/>
              <a:buChar char="o"/>
            </a:pPr>
            <a:r>
              <a:rPr lang="en-IN" dirty="0" smtClean="0"/>
              <a:t>Source code version</a:t>
            </a:r>
          </a:p>
          <a:p>
            <a:pPr lvl="1">
              <a:buClr>
                <a:srgbClr val="00B0F0"/>
              </a:buClr>
              <a:buFont typeface="Courier New" panose="02070309020205020404" pitchFamily="49" charset="0"/>
              <a:buChar char="o"/>
            </a:pPr>
            <a:r>
              <a:rPr lang="en-IN" dirty="0" smtClean="0"/>
              <a:t>Evaluation metrics</a:t>
            </a:r>
          </a:p>
          <a:p>
            <a:pPr lvl="1">
              <a:buClr>
                <a:srgbClr val="00B0F0"/>
              </a:buClr>
              <a:buFont typeface="Courier New" panose="02070309020205020404" pitchFamily="49" charset="0"/>
              <a:buChar char="o"/>
            </a:pPr>
            <a:r>
              <a:rPr lang="en-IN" dirty="0" smtClean="0"/>
              <a:t>Model outputs</a:t>
            </a:r>
          </a:p>
          <a:p>
            <a:pPr lvl="1">
              <a:buClr>
                <a:srgbClr val="00B0F0"/>
              </a:buClr>
              <a:buFont typeface="Courier New" panose="02070309020205020404" pitchFamily="49" charset="0"/>
              <a:buChar char="o"/>
            </a:pPr>
            <a:r>
              <a:rPr lang="en-IN" dirty="0" err="1" smtClean="0"/>
              <a:t>Artifacts</a:t>
            </a:r>
            <a:endParaRPr lang="en-IN" dirty="0"/>
          </a:p>
          <a:p>
            <a:pPr lvl="1">
              <a:buClr>
                <a:srgbClr val="00B0F0"/>
              </a:buClr>
              <a:buFont typeface="Courier New" panose="02070309020205020404" pitchFamily="49" charset="0"/>
              <a:buChar char="o"/>
            </a:pPr>
            <a:r>
              <a:rPr lang="en-IN" dirty="0" smtClean="0"/>
              <a:t>Execution details</a:t>
            </a:r>
          </a:p>
          <a:p>
            <a:pPr>
              <a:buClr>
                <a:srgbClr val="00B0F0"/>
              </a:buClr>
              <a:buFont typeface="Courier New" panose="02070309020205020404" pitchFamily="49" charset="0"/>
              <a:buChar char="o"/>
            </a:pPr>
            <a:r>
              <a:rPr lang="en-IN" dirty="0" smtClean="0"/>
              <a:t>This </a:t>
            </a:r>
            <a:r>
              <a:rPr lang="en-IN" dirty="0"/>
              <a:t>enables teams to</a:t>
            </a:r>
            <a:r>
              <a:rPr lang="en-IN" dirty="0" smtClean="0"/>
              <a:t>:</a:t>
            </a:r>
          </a:p>
          <a:p>
            <a:pPr lvl="1">
              <a:buClr>
                <a:srgbClr val="00B0F0"/>
              </a:buClr>
              <a:buFont typeface="Courier New" panose="02070309020205020404" pitchFamily="49" charset="0"/>
              <a:buChar char="o"/>
            </a:pPr>
            <a:r>
              <a:rPr lang="en-IN" dirty="0"/>
              <a:t>Organize experiments </a:t>
            </a:r>
            <a:r>
              <a:rPr lang="en-IN" dirty="0" smtClean="0"/>
              <a:t>efficiently.</a:t>
            </a:r>
          </a:p>
          <a:p>
            <a:pPr lvl="1">
              <a:buClr>
                <a:srgbClr val="00B0F0"/>
              </a:buClr>
              <a:buFont typeface="Courier New" panose="02070309020205020404" pitchFamily="49" charset="0"/>
              <a:buChar char="o"/>
            </a:pPr>
            <a:r>
              <a:rPr lang="en-IN" dirty="0" smtClean="0"/>
              <a:t>Compare different model runs.</a:t>
            </a:r>
          </a:p>
          <a:p>
            <a:pPr lvl="1">
              <a:buClr>
                <a:srgbClr val="00B0F0"/>
              </a:buClr>
              <a:buFont typeface="Courier New" panose="02070309020205020404" pitchFamily="49" charset="0"/>
              <a:buChar char="o"/>
            </a:pPr>
            <a:r>
              <a:rPr lang="en-IN" dirty="0" smtClean="0"/>
              <a:t>Reproduce </a:t>
            </a:r>
            <a:r>
              <a:rPr lang="en-IN" dirty="0"/>
              <a:t>previous </a:t>
            </a:r>
            <a:r>
              <a:rPr lang="en-IN" dirty="0" smtClean="0"/>
              <a:t>experiments.</a:t>
            </a:r>
          </a:p>
          <a:p>
            <a:pPr lvl="1">
              <a:buClr>
                <a:srgbClr val="00B0F0"/>
              </a:buClr>
              <a:buFont typeface="Courier New" panose="02070309020205020404" pitchFamily="49" charset="0"/>
              <a:buChar char="o"/>
            </a:pPr>
            <a:r>
              <a:rPr lang="en-IN" dirty="0" smtClean="0"/>
              <a:t>Share </a:t>
            </a:r>
            <a:r>
              <a:rPr lang="en-IN" dirty="0"/>
              <a:t>experiment results with colleagues</a:t>
            </a:r>
            <a:r>
              <a:rPr lang="en-IN" dirty="0" smtClean="0"/>
              <a:t>.</a:t>
            </a:r>
            <a:endParaRPr lang="en-IN" dirty="0"/>
          </a:p>
        </p:txBody>
      </p:sp>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err="1"/>
              <a:t>MLflow</a:t>
            </a:r>
            <a:r>
              <a:rPr lang="en-IN" dirty="0"/>
              <a:t> Tracking UI</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5467138"/>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dirty="0"/>
              <a:t>One of the biggest advantages of </a:t>
            </a:r>
            <a:r>
              <a:rPr lang="en-US" dirty="0" err="1"/>
              <a:t>MLflow</a:t>
            </a:r>
            <a:r>
              <a:rPr lang="en-US" dirty="0"/>
              <a:t> Tracking is its web-based user interface.</a:t>
            </a:r>
          </a:p>
          <a:p>
            <a:pPr lvl="0">
              <a:buClr>
                <a:srgbClr val="00B0F0"/>
              </a:buClr>
              <a:buFont typeface="Courier New" panose="02070309020205020404" pitchFamily="49" charset="0"/>
              <a:buChar char="o"/>
            </a:pPr>
            <a:r>
              <a:rPr lang="en-US" dirty="0"/>
              <a:t>Instead of searching through terminal logs or local folders, users can visualize:</a:t>
            </a:r>
          </a:p>
          <a:p>
            <a:pPr lvl="1">
              <a:buClr>
                <a:srgbClr val="00B0F0"/>
              </a:buClr>
              <a:buFont typeface="Courier New" panose="02070309020205020404" pitchFamily="49" charset="0"/>
              <a:buChar char="o"/>
            </a:pPr>
            <a:r>
              <a:rPr lang="en-US" dirty="0" smtClean="0"/>
              <a:t>Experiment </a:t>
            </a:r>
            <a:r>
              <a:rPr lang="en-US" dirty="0"/>
              <a:t>runs</a:t>
            </a:r>
          </a:p>
          <a:p>
            <a:pPr lvl="1">
              <a:buClr>
                <a:srgbClr val="00B0F0"/>
              </a:buClr>
              <a:buFont typeface="Courier New" panose="02070309020205020404" pitchFamily="49" charset="0"/>
              <a:buChar char="o"/>
            </a:pPr>
            <a:r>
              <a:rPr lang="en-US" dirty="0" smtClean="0"/>
              <a:t>Logged </a:t>
            </a:r>
            <a:r>
              <a:rPr lang="en-US" dirty="0"/>
              <a:t>parameters</a:t>
            </a:r>
          </a:p>
          <a:p>
            <a:pPr lvl="1">
              <a:buClr>
                <a:srgbClr val="00B0F0"/>
              </a:buClr>
              <a:buFont typeface="Courier New" panose="02070309020205020404" pitchFamily="49" charset="0"/>
              <a:buChar char="o"/>
            </a:pPr>
            <a:r>
              <a:rPr lang="en-US" dirty="0" smtClean="0"/>
              <a:t>Performance </a:t>
            </a:r>
            <a:r>
              <a:rPr lang="en-US" dirty="0"/>
              <a:t>metrics</a:t>
            </a:r>
          </a:p>
          <a:p>
            <a:pPr lvl="1">
              <a:buClr>
                <a:srgbClr val="00B0F0"/>
              </a:buClr>
              <a:buFont typeface="Courier New" panose="02070309020205020404" pitchFamily="49" charset="0"/>
              <a:buChar char="o"/>
            </a:pPr>
            <a:r>
              <a:rPr lang="en-US" dirty="0" smtClean="0"/>
              <a:t>Training </a:t>
            </a:r>
            <a:r>
              <a:rPr lang="en-US" dirty="0"/>
              <a:t>history</a:t>
            </a:r>
          </a:p>
          <a:p>
            <a:pPr lvl="1">
              <a:buClr>
                <a:srgbClr val="00B0F0"/>
              </a:buClr>
              <a:buFont typeface="Courier New" panose="02070309020205020404" pitchFamily="49" charset="0"/>
              <a:buChar char="o"/>
            </a:pPr>
            <a:r>
              <a:rPr lang="en-US" dirty="0" smtClean="0"/>
              <a:t>Model </a:t>
            </a:r>
            <a:r>
              <a:rPr lang="en-US" dirty="0"/>
              <a:t>comparisons</a:t>
            </a:r>
          </a:p>
          <a:p>
            <a:pPr lvl="0">
              <a:buClr>
                <a:srgbClr val="00B0F0"/>
              </a:buClr>
              <a:buFont typeface="Courier New" panose="02070309020205020404" pitchFamily="49" charset="0"/>
              <a:buChar char="o"/>
            </a:pPr>
            <a:r>
              <a:rPr lang="en-US" dirty="0"/>
              <a:t>The graphical interface makes it significantly easier to analyze experiments and identify the best-performing models.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78CF0A-9D77-4FD2-A2D8-5E627661DB47}">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863d8192-19c9-48ba-956d-c31701e6c360"/>
    <ds:schemaRef ds:uri="http://www.w3.org/XML/1998/namespace"/>
    <ds:schemaRef ds:uri="http://purl.org/dc/dcmitype/"/>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26E52B-BE85-4589-9F0E-59F6B75FAD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49436</TotalTime>
  <Words>955</Words>
  <Application>Microsoft Office PowerPoint</Application>
  <PresentationFormat>Custom</PresentationFormat>
  <Paragraphs>133</Paragraphs>
  <Slides>17</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17</vt:i4>
      </vt:variant>
    </vt:vector>
  </HeadingPairs>
  <TitlesOfParts>
    <vt:vector size="21" baseType="lpstr">
      <vt:lpstr>Infogain Theme</vt:lpstr>
      <vt:lpstr>Tenarai</vt:lpstr>
      <vt:lpstr>1_Tenarai</vt:lpstr>
      <vt:lpstr>think-cell Slide</vt:lpstr>
      <vt:lpstr>MLflow 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994</cp:revision>
  <dcterms:created xsi:type="dcterms:W3CDTF">2016-11-03T07:42:20Z</dcterms:created>
  <dcterms:modified xsi:type="dcterms:W3CDTF">2026-08-14T08:54:36Z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