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22"/>
  </p:notesMasterIdLst>
  <p:sldIdLst>
    <p:sldId id="360" r:id="rId7"/>
    <p:sldId id="825" r:id="rId8"/>
    <p:sldId id="821" r:id="rId9"/>
    <p:sldId id="822" r:id="rId10"/>
    <p:sldId id="804" r:id="rId11"/>
    <p:sldId id="823" r:id="rId12"/>
    <p:sldId id="824" r:id="rId13"/>
    <p:sldId id="742" r:id="rId14"/>
    <p:sldId id="743" r:id="rId15"/>
    <p:sldId id="805" r:id="rId16"/>
    <p:sldId id="744" r:id="rId17"/>
    <p:sldId id="787" r:id="rId18"/>
    <p:sldId id="807" r:id="rId19"/>
    <p:sldId id="809" r:id="rId20"/>
    <p:sldId id="390" r:id="rId21"/>
  </p:sldIdLst>
  <p:sldSz cx="12192000" cy="6858000"/>
  <p:notesSz cx="6858000" cy="9144000"/>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5"/>
            <p14:sldId id="821"/>
            <p14:sldId id="822"/>
            <p14:sldId id="804"/>
            <p14:sldId id="823"/>
            <p14:sldId id="824"/>
            <p14:sldId id="742"/>
            <p14:sldId id="743"/>
            <p14:sldId id="805"/>
            <p14:sldId id="744"/>
            <p14:sldId id="787"/>
            <p14:sldId id="807"/>
            <p14:sldId id="809"/>
            <p14:sldId id="390"/>
          </p14:sldIdLst>
        </p14:section>
      </p14:sectionLst>
    </p:ext>
    <p:ext uri="{EFAFB233-063F-42B5-8137-9DF3F51BA10A}">
      <p15:sldGuideLst xmlns="" xmlns:p15="http://schemas.microsoft.com/office/powerpoint/2012/main">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96"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5.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tags" Target="tags/tag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notesMaster" Target="notesMasters/notesMaster1.xml"/><Relationship Id="rId27"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13-08-2026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 xmlns:a16="http://schemas.microsoft.com/office/drawing/2014/main"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 xmlns:a16="http://schemas.microsoft.com/office/drawing/2014/main"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 xmlns:a16="http://schemas.microsoft.com/office/drawing/2014/main"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 xmlns:a16="http://schemas.microsoft.com/office/drawing/2014/main"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 xmlns:a16="http://schemas.microsoft.com/office/drawing/2014/main"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 xmlns:a16="http://schemas.microsoft.com/office/drawing/2014/main"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 xmlns:a16="http://schemas.microsoft.com/office/drawing/2014/main"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 xmlns:a16="http://schemas.microsoft.com/office/drawing/2014/main"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 xmlns:a16="http://schemas.microsoft.com/office/drawing/2014/main"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 xmlns:a16="http://schemas.microsoft.com/office/drawing/2014/main"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 xmlns:a16="http://schemas.microsoft.com/office/drawing/2014/main"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 xmlns:a16="http://schemas.microsoft.com/office/drawing/2014/main"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 xmlns:a16="http://schemas.microsoft.com/office/drawing/2014/main"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 xmlns:a16="http://schemas.microsoft.com/office/drawing/2014/main"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 xmlns:a16="http://schemas.microsoft.com/office/drawing/2014/main"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 xmlns:a16="http://schemas.microsoft.com/office/drawing/2014/main"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 xmlns:a16="http://schemas.microsoft.com/office/drawing/2014/main"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 xmlns:a16="http://schemas.microsoft.com/office/drawing/2014/main"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 xmlns:a16="http://schemas.microsoft.com/office/drawing/2014/main"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 xmlns:a16="http://schemas.microsoft.com/office/drawing/2014/main"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 xmlns:a16="http://schemas.microsoft.com/office/drawing/2014/main"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 xmlns:a16="http://schemas.microsoft.com/office/drawing/2014/main"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 xmlns:a16="http://schemas.microsoft.com/office/drawing/2014/main"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 xmlns:a16="http://schemas.microsoft.com/office/drawing/2014/main"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 xmlns:a16="http://schemas.microsoft.com/office/drawing/2014/main"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 xmlns:a16="http://schemas.microsoft.com/office/drawing/2014/main"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 xmlns:a16="http://schemas.microsoft.com/office/drawing/2014/main"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 xmlns:a16="http://schemas.microsoft.com/office/drawing/2014/main"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 xmlns:a16="http://schemas.microsoft.com/office/drawing/2014/main"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 xmlns:a16="http://schemas.microsoft.com/office/drawing/2014/main"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 xmlns:a16="http://schemas.microsoft.com/office/drawing/2014/main"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 xmlns:a16="http://schemas.microsoft.com/office/drawing/2014/main"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 xmlns:a16="http://schemas.microsoft.com/office/drawing/2014/main"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 xmlns:a16="http://schemas.microsoft.com/office/drawing/2014/main"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 xmlns:a16="http://schemas.microsoft.com/office/drawing/2014/main"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 xmlns:a16="http://schemas.microsoft.com/office/drawing/2014/main"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 xmlns:a16="http://schemas.microsoft.com/office/drawing/2014/main"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 xmlns:a16="http://schemas.microsoft.com/office/drawing/2014/main"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 xmlns:a16="http://schemas.microsoft.com/office/drawing/2014/main"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 xmlns:a16="http://schemas.microsoft.com/office/drawing/2014/main"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 xmlns:a16="http://schemas.microsoft.com/office/drawing/2014/main"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 xmlns:a16="http://schemas.microsoft.com/office/drawing/2014/main"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 xmlns:a16="http://schemas.microsoft.com/office/drawing/2014/main"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 xmlns:a16="http://schemas.microsoft.com/office/drawing/2014/main"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 xmlns:a16="http://schemas.microsoft.com/office/drawing/2014/main"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 xmlns:a16="http://schemas.microsoft.com/office/drawing/2014/main"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 xmlns:a16="http://schemas.microsoft.com/office/drawing/2014/main"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 xmlns:a16="http://schemas.microsoft.com/office/drawing/2014/main"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 xmlns:a16="http://schemas.microsoft.com/office/drawing/2014/main"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 xmlns:a16="http://schemas.microsoft.com/office/drawing/2014/main"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 xmlns:a16="http://schemas.microsoft.com/office/drawing/2014/main"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 xmlns:a16="http://schemas.microsoft.com/office/drawing/2014/main"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 xmlns:a16="http://schemas.microsoft.com/office/drawing/2014/main"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 xmlns:a16="http://schemas.microsoft.com/office/drawing/2014/main"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 xmlns:a16="http://schemas.microsoft.com/office/drawing/2014/main"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 xmlns:a16="http://schemas.microsoft.com/office/drawing/2014/main"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 xmlns:a16="http://schemas.microsoft.com/office/drawing/2014/main"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 xmlns:a16="http://schemas.microsoft.com/office/drawing/2014/main"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 xmlns:a16="http://schemas.microsoft.com/office/drawing/2014/main"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 xmlns:a16="http://schemas.microsoft.com/office/drawing/2014/main"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 xmlns:a16="http://schemas.microsoft.com/office/drawing/2014/main"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 xmlns:a16="http://schemas.microsoft.com/office/drawing/2014/main"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 xmlns:a16="http://schemas.microsoft.com/office/drawing/2014/main"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 xmlns:a16="http://schemas.microsoft.com/office/drawing/2014/main"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 xmlns:a16="http://schemas.microsoft.com/office/drawing/2014/main"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 xmlns:a16="http://schemas.microsoft.com/office/drawing/2014/main"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 xmlns:a16="http://schemas.microsoft.com/office/drawing/2014/main"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 xmlns:a16="http://schemas.microsoft.com/office/drawing/2014/main"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 xmlns:a16="http://schemas.microsoft.com/office/drawing/2014/main"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 xmlns:a16="http://schemas.microsoft.com/office/drawing/2014/main"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 xmlns:a16="http://schemas.microsoft.com/office/drawing/2014/main"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 xmlns:a16="http://schemas.microsoft.com/office/drawing/2014/main"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 xmlns:a16="http://schemas.microsoft.com/office/drawing/2014/main"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 xmlns:a16="http://schemas.microsoft.com/office/drawing/2014/main"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 xmlns:a16="http://schemas.microsoft.com/office/drawing/2014/main"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 xmlns:a16="http://schemas.microsoft.com/office/drawing/2014/main"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 xmlns:a16="http://schemas.microsoft.com/office/drawing/2014/main"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 xmlns:a16="http://schemas.microsoft.com/office/drawing/2014/main"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 xmlns:a16="http://schemas.microsoft.com/office/drawing/2014/main"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 xmlns:a16="http://schemas.microsoft.com/office/drawing/2014/main"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 xmlns:a16="http://schemas.microsoft.com/office/drawing/2014/main"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 xmlns:a16="http://schemas.microsoft.com/office/drawing/2014/main"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 xmlns:a16="http://schemas.microsoft.com/office/drawing/2014/main"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 xmlns:a16="http://schemas.microsoft.com/office/drawing/2014/main"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 xmlns:a16="http://schemas.microsoft.com/office/drawing/2014/main"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 xmlns:a16="http://schemas.microsoft.com/office/drawing/2014/main"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 xmlns:a16="http://schemas.microsoft.com/office/drawing/2014/main"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 xmlns:a16="http://schemas.microsoft.com/office/drawing/2014/main"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 xmlns:a16="http://schemas.microsoft.com/office/drawing/2014/main"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 xmlns:a16="http://schemas.microsoft.com/office/drawing/2014/main"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 xmlns:a16="http://schemas.microsoft.com/office/drawing/2014/main"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 xmlns:a16="http://schemas.microsoft.com/office/drawing/2014/main"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 xmlns:a16="http://schemas.microsoft.com/office/drawing/2014/main"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 xmlns:a16="http://schemas.microsoft.com/office/drawing/2014/main"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 xmlns:a16="http://schemas.microsoft.com/office/drawing/2014/main"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 xmlns:a16="http://schemas.microsoft.com/office/drawing/2014/main"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 xmlns:a16="http://schemas.microsoft.com/office/drawing/2014/main"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 xmlns:a16="http://schemas.microsoft.com/office/drawing/2014/main"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 xmlns:a16="http://schemas.microsoft.com/office/drawing/2014/main"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 xmlns:a16="http://schemas.microsoft.com/office/drawing/2014/main"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 xmlns:a16="http://schemas.microsoft.com/office/drawing/2014/main"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 xmlns:a16="http://schemas.microsoft.com/office/drawing/2014/main"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 xmlns:a16="http://schemas.microsoft.com/office/drawing/2014/main"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 xmlns:a16="http://schemas.microsoft.com/office/drawing/2014/main"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 xmlns:a16="http://schemas.microsoft.com/office/drawing/2014/main"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 xmlns:a16="http://schemas.microsoft.com/office/drawing/2014/main"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 xmlns:a16="http://schemas.microsoft.com/office/drawing/2014/main"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 xmlns:a16="http://schemas.microsoft.com/office/drawing/2014/main"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 xmlns:a16="http://schemas.microsoft.com/office/drawing/2014/main"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7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0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2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7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29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2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4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 xmlns:a16="http://schemas.microsoft.com/office/drawing/2014/main"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9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1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4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6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1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3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6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8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3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5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8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0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5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7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0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2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7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89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2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4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199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1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4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6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1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3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6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8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3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5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8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0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5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7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0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 xmlns:a16="http://schemas.microsoft.com/office/drawing/2014/main"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2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7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49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2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4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59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1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4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6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1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3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6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8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3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5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8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0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5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7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0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 xmlns:a16="http://schemas.microsoft.com/office/drawing/2014/main"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2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5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5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8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0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07"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0"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31"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 xmlns:a16="http://schemas.microsoft.com/office/drawing/2014/main"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4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19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1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4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6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1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3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 xmlns:a16="http://schemas.microsoft.com/office/drawing/2014/main"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6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8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3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5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 xmlns:a16="http://schemas.microsoft.com/office/drawing/2014/main"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8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0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5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7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0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2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 xmlns:a16="http://schemas.microsoft.com/office/drawing/2014/main"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74"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698"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22"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46"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79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 xmlns:a16="http://schemas.microsoft.com/office/drawing/2014/main"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 xmlns:a16="http://schemas.microsoft.com/office/drawing/2014/main"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 xmlns:a16="http://schemas.microsoft.com/office/drawing/2014/main"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 xmlns:a16="http://schemas.microsoft.com/office/drawing/2014/main"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 xmlns:a16="http://schemas.microsoft.com/office/drawing/2014/main"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 xmlns:a16="http://schemas.microsoft.com/office/drawing/2014/main"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 xmlns:a16="http://schemas.microsoft.com/office/drawing/2014/main"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1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 xmlns:a16="http://schemas.microsoft.com/office/drawing/2014/main"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 xmlns:a16="http://schemas.microsoft.com/office/drawing/2014/main" id="{B96EE5D6-47A2-9236-B06C-AF27552BD94F}"/>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 xmlns:a16="http://schemas.microsoft.com/office/drawing/2014/main"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2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 xmlns:a16="http://schemas.microsoft.com/office/drawing/2014/main"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 xmlns:a16="http://schemas.microsoft.com/office/drawing/2014/main"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 xmlns:a16="http://schemas.microsoft.com/office/drawing/2014/main"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 xmlns:a16="http://schemas.microsoft.com/office/drawing/2014/main"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 xmlns:a16="http://schemas.microsoft.com/office/drawing/2014/main"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 xmlns:a16="http://schemas.microsoft.com/office/drawing/2014/main"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 xmlns:a16="http://schemas.microsoft.com/office/drawing/2014/main"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 xmlns:a16="http://schemas.microsoft.com/office/drawing/2014/main"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 xmlns:a16="http://schemas.microsoft.com/office/drawing/2014/main"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 xmlns:a16="http://schemas.microsoft.com/office/drawing/2014/main"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 xmlns:a16="http://schemas.microsoft.com/office/drawing/2014/main"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 xmlns:a16="http://schemas.microsoft.com/office/drawing/2014/main"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 xmlns:a16="http://schemas.microsoft.com/office/drawing/2014/main"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 xmlns:a16="http://schemas.microsoft.com/office/drawing/2014/main"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 xmlns:a16="http://schemas.microsoft.com/office/drawing/2014/main"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 xmlns:a16="http://schemas.microsoft.com/office/drawing/2014/main"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 xmlns:a16="http://schemas.microsoft.com/office/drawing/2014/main"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 xmlns:a16="http://schemas.microsoft.com/office/drawing/2014/main"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 xmlns:a16="http://schemas.microsoft.com/office/drawing/2014/main"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 xmlns:a16="http://schemas.microsoft.com/office/drawing/2014/main"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 xmlns:a16="http://schemas.microsoft.com/office/drawing/2014/main"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 xmlns:a16="http://schemas.microsoft.com/office/drawing/2014/main"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 xmlns:a16="http://schemas.microsoft.com/office/drawing/2014/main"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7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 xmlns:a16="http://schemas.microsoft.com/office/drawing/2014/main"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 xmlns:a16="http://schemas.microsoft.com/office/drawing/2014/main"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 xmlns:a16="http://schemas.microsoft.com/office/drawing/2014/main"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 xmlns:a16="http://schemas.microsoft.com/office/drawing/2014/main"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 xmlns:a16="http://schemas.microsoft.com/office/drawing/2014/main"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 xmlns:a16="http://schemas.microsoft.com/office/drawing/2014/main"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 xmlns:a16="http://schemas.microsoft.com/office/drawing/2014/main"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8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 xmlns:a16="http://schemas.microsoft.com/office/drawing/2014/main"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 xmlns:a16="http://schemas.microsoft.com/office/drawing/2014/main"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 xmlns:a16="http://schemas.microsoft.com/office/drawing/2014/main"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 xmlns:a16="http://schemas.microsoft.com/office/drawing/2014/main"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 xmlns:a16="http://schemas.microsoft.com/office/drawing/2014/main"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 xmlns:a16="http://schemas.microsoft.com/office/drawing/2014/main"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 xmlns:a16="http://schemas.microsoft.com/office/drawing/2014/main"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 xmlns:a16="http://schemas.microsoft.com/office/drawing/2014/main"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 xmlns:a16="http://schemas.microsoft.com/office/drawing/2014/main"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 xmlns:a16="http://schemas.microsoft.com/office/drawing/2014/main"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 xmlns:a16="http://schemas.microsoft.com/office/drawing/2014/main"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 xmlns:a16="http://schemas.microsoft.com/office/drawing/2014/main"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 xmlns:a16="http://schemas.microsoft.com/office/drawing/2014/main"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 xmlns:a16="http://schemas.microsoft.com/office/drawing/2014/main"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 xmlns:a16="http://schemas.microsoft.com/office/drawing/2014/main"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 xmlns:a16="http://schemas.microsoft.com/office/drawing/2014/main"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 xmlns:a16="http://schemas.microsoft.com/office/drawing/2014/main"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 xmlns:a16="http://schemas.microsoft.com/office/drawing/2014/main"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 xmlns:a16="http://schemas.microsoft.com/office/drawing/2014/main"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 xmlns:a16="http://schemas.microsoft.com/office/drawing/2014/main"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 xmlns:a16="http://schemas.microsoft.com/office/drawing/2014/main"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 xmlns:a16="http://schemas.microsoft.com/office/drawing/2014/main"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 xmlns:a16="http://schemas.microsoft.com/office/drawing/2014/main"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703D0EC0-800C-017B-115C-E6C2A79F739E}"/>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 xmlns:a16="http://schemas.microsoft.com/office/drawing/2014/main"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 xmlns:a16="http://schemas.microsoft.com/office/drawing/2014/main"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3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 xmlns:a16="http://schemas.microsoft.com/office/drawing/2014/main" id="{0EAE06A4-0CF9-D5F6-2C1C-A4EA49DA41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0" y="0"/>
            <a:ext cx="12192000" cy="6858000"/>
          </a:xfrm>
          <a:prstGeom prst="rect">
            <a:avLst/>
          </a:prstGeom>
        </p:spPr>
      </p:pic>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 xmlns:a16="http://schemas.microsoft.com/office/drawing/2014/main"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 xmlns:a16="http://schemas.microsoft.com/office/drawing/2014/main"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 xmlns:a16="http://schemas.microsoft.com/office/drawing/2014/main"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4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 xmlns:a16="http://schemas.microsoft.com/office/drawing/2014/main"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 xmlns:a16="http://schemas.microsoft.com/office/drawing/2014/main"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 xmlns:a16="http://schemas.microsoft.com/office/drawing/2014/main"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 xmlns:a16="http://schemas.microsoft.com/office/drawing/2014/main"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 xmlns:a16="http://schemas.microsoft.com/office/drawing/2014/main"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 xmlns:a16="http://schemas.microsoft.com/office/drawing/2014/main"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 xmlns:a16="http://schemas.microsoft.com/office/drawing/2014/main"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 xmlns:a16="http://schemas.microsoft.com/office/drawing/2014/main"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 xmlns:a16="http://schemas.microsoft.com/office/drawing/2014/main"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 xmlns:a16="http://schemas.microsoft.com/office/drawing/2014/main"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 xmlns:a16="http://schemas.microsoft.com/office/drawing/2014/main"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 xmlns:a16="http://schemas.microsoft.com/office/drawing/2014/main"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 xmlns:a16="http://schemas.microsoft.com/office/drawing/2014/main"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 xmlns:a16="http://schemas.microsoft.com/office/drawing/2014/main"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 xmlns:a16="http://schemas.microsoft.com/office/drawing/2014/main"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 xmlns:a16="http://schemas.microsoft.com/office/drawing/2014/main"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 xmlns:a16="http://schemas.microsoft.com/office/drawing/2014/main"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 xmlns:a16="http://schemas.microsoft.com/office/drawing/2014/main"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 xmlns:a16="http://schemas.microsoft.com/office/drawing/2014/main"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 xmlns:a16="http://schemas.microsoft.com/office/drawing/2014/main"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 xmlns:a16="http://schemas.microsoft.com/office/drawing/2014/main"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 xmlns:a16="http://schemas.microsoft.com/office/drawing/2014/main"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 xmlns:a16="http://schemas.microsoft.com/office/drawing/2014/main"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 xmlns:a16="http://schemas.microsoft.com/office/drawing/2014/main"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 xmlns:a16="http://schemas.microsoft.com/office/drawing/2014/main"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 xmlns:a16="http://schemas.microsoft.com/office/drawing/2014/main"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 xmlns:a16="http://schemas.microsoft.com/office/drawing/2014/main"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0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0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 xmlns:a16="http://schemas.microsoft.com/office/drawing/2014/main"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 xmlns:a16="http://schemas.microsoft.com/office/drawing/2014/main"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3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 xmlns:a16="http://schemas.microsoft.com/office/drawing/2014/main"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 xmlns:a16="http://schemas.microsoft.com/office/drawing/2014/main"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55"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 xmlns:a16="http://schemas.microsoft.com/office/drawing/2014/main"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 xmlns:a16="http://schemas.microsoft.com/office/drawing/2014/main"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 xmlns:a16="http://schemas.microsoft.com/office/drawing/2014/main"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 xmlns:a16="http://schemas.microsoft.com/office/drawing/2014/main"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 xmlns:a16="http://schemas.microsoft.com/office/drawing/2014/main"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 xmlns:a16="http://schemas.microsoft.com/office/drawing/2014/main"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 xmlns:a16="http://schemas.microsoft.com/office/drawing/2014/main"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 xmlns:a16="http://schemas.microsoft.com/office/drawing/2014/main"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 xmlns:a16="http://schemas.microsoft.com/office/drawing/2014/main"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 xmlns:a16="http://schemas.microsoft.com/office/drawing/2014/main"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7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 xmlns:a16="http://schemas.microsoft.com/office/drawing/2014/main"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 xmlns:a16="http://schemas.microsoft.com/office/drawing/2014/main"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 xmlns:a16="http://schemas.microsoft.com/office/drawing/2014/main"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 xmlns:a16="http://schemas.microsoft.com/office/drawing/2014/main"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 xmlns:a16="http://schemas.microsoft.com/office/drawing/2014/main"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 xmlns:a16="http://schemas.microsoft.com/office/drawing/2014/main"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 xmlns:a16="http://schemas.microsoft.com/office/drawing/2014/main"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 xmlns:a16="http://schemas.microsoft.com/office/drawing/2014/main"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 xmlns:a16="http://schemas.microsoft.com/office/drawing/2014/main"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 xmlns:a16="http://schemas.microsoft.com/office/drawing/2014/main"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 xmlns:a16="http://schemas.microsoft.com/office/drawing/2014/main"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 xmlns:a16="http://schemas.microsoft.com/office/drawing/2014/main"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 xmlns:a16="http://schemas.microsoft.com/office/drawing/2014/main"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 xmlns:a16="http://schemas.microsoft.com/office/drawing/2014/main"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 xmlns:a16="http://schemas.microsoft.com/office/drawing/2014/main"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 xmlns:a16="http://schemas.microsoft.com/office/drawing/2014/main"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79"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 xmlns:a16="http://schemas.microsoft.com/office/drawing/2014/main"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 xmlns:a16="http://schemas.microsoft.com/office/drawing/2014/main"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 xmlns:a16="http://schemas.microsoft.com/office/drawing/2014/main"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 xmlns:a16="http://schemas.microsoft.com/office/drawing/2014/main"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 xmlns:a16="http://schemas.microsoft.com/office/drawing/2014/main"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 xmlns:a16="http://schemas.microsoft.com/office/drawing/2014/main"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 xmlns:a16="http://schemas.microsoft.com/office/drawing/2014/main"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 xmlns:a16="http://schemas.microsoft.com/office/drawing/2014/main"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29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 xmlns:a16="http://schemas.microsoft.com/office/drawing/2014/main"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 xmlns:a16="http://schemas.microsoft.com/office/drawing/2014/main"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0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 xmlns:a16="http://schemas.microsoft.com/office/drawing/2014/main"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 xmlns:a16="http://schemas.microsoft.com/office/drawing/2014/main"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 xmlns:a16="http://schemas.microsoft.com/office/drawing/2014/main"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 xmlns:a16="http://schemas.microsoft.com/office/drawing/2014/main"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 xmlns:a16="http://schemas.microsoft.com/office/drawing/2014/main"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 xmlns:a16="http://schemas.microsoft.com/office/drawing/2014/main"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 xmlns:a16="http://schemas.microsoft.com/office/drawing/2014/main"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989882" y="1768475"/>
            <a:ext cx="2956893" cy="3721606"/>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6249613" y="1768475"/>
            <a:ext cx="2956893" cy="3721606"/>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269850" y="1768475"/>
            <a:ext cx="2956893" cy="3721606"/>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 xmlns:a16="http://schemas.microsoft.com/office/drawing/2014/main"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 xmlns:a16="http://schemas.microsoft.com/office/drawing/2014/main"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 xmlns:a16="http://schemas.microsoft.com/office/drawing/2014/main" id="{25E49CCA-F737-5786-8174-B0564AEC164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 xmlns:a16="http://schemas.microsoft.com/office/drawing/2014/main" id="{226AC344-E1CE-70B2-B97E-30637E49AB0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 xmlns:a16="http://schemas.microsoft.com/office/drawing/2014/main" id="{FCEB8D3E-A5C6-310F-74E2-78E550DF1E71}"/>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 xmlns:a16="http://schemas.microsoft.com/office/drawing/2014/main" id="{47F66854-B8B3-FA25-DFD9-036CBFA383D7}"/>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 xmlns:a16="http://schemas.microsoft.com/office/drawing/2014/main"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 xmlns:a16="http://schemas.microsoft.com/office/drawing/2014/main"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 xmlns:a16="http://schemas.microsoft.com/office/drawing/2014/main"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 xmlns:a16="http://schemas.microsoft.com/office/drawing/2014/main"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 xmlns:a16="http://schemas.microsoft.com/office/drawing/2014/main"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 xmlns:a16="http://schemas.microsoft.com/office/drawing/2014/main"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 xmlns:a16="http://schemas.microsoft.com/office/drawing/2014/main"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 xmlns:a16="http://schemas.microsoft.com/office/drawing/2014/main"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 xmlns:a16="http://schemas.microsoft.com/office/drawing/2014/main"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 xmlns:a16="http://schemas.microsoft.com/office/drawing/2014/main"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 xmlns:a16="http://schemas.microsoft.com/office/drawing/2014/main"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 xmlns:a16="http://schemas.microsoft.com/office/drawing/2014/main"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 xmlns:a16="http://schemas.microsoft.com/office/drawing/2014/main"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 xmlns:a16="http://schemas.microsoft.com/office/drawing/2014/main"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 xmlns:a16="http://schemas.microsoft.com/office/drawing/2014/main"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 xmlns:a16="http://schemas.microsoft.com/office/drawing/2014/main"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 xmlns:a16="http://schemas.microsoft.com/office/drawing/2014/main"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 xmlns:a16="http://schemas.microsoft.com/office/drawing/2014/main"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 xmlns:a16="http://schemas.microsoft.com/office/drawing/2014/main"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 xmlns:a16="http://schemas.microsoft.com/office/drawing/2014/main"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 xmlns:a16="http://schemas.microsoft.com/office/drawing/2014/main"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 xmlns:a16="http://schemas.microsoft.com/office/drawing/2014/main"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 xmlns:a16="http://schemas.microsoft.com/office/drawing/2014/main"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 xmlns:a16="http://schemas.microsoft.com/office/drawing/2014/main"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 xmlns:a16="http://schemas.microsoft.com/office/drawing/2014/main"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 xmlns:a16="http://schemas.microsoft.com/office/drawing/2014/main"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 xmlns:a16="http://schemas.microsoft.com/office/drawing/2014/main"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 xmlns:a16="http://schemas.microsoft.com/office/drawing/2014/main"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 xmlns:a16="http://schemas.microsoft.com/office/drawing/2014/main"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 xmlns:a16="http://schemas.microsoft.com/office/drawing/2014/main"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 xmlns:a16="http://schemas.microsoft.com/office/drawing/2014/main"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 xmlns:a16="http://schemas.microsoft.com/office/drawing/2014/main"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 xmlns:a16="http://schemas.microsoft.com/office/drawing/2014/main"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 xmlns:a16="http://schemas.microsoft.com/office/drawing/2014/main"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 xmlns:a16="http://schemas.microsoft.com/office/drawing/2014/main"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 xmlns:a16="http://schemas.microsoft.com/office/drawing/2014/main"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 xmlns:a16="http://schemas.microsoft.com/office/drawing/2014/main"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 xmlns:a16="http://schemas.microsoft.com/office/drawing/2014/main"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 xmlns:a16="http://schemas.microsoft.com/office/drawing/2014/main"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 xmlns:a16="http://schemas.microsoft.com/office/drawing/2014/main"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 xmlns:a16="http://schemas.microsoft.com/office/drawing/2014/main"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 xmlns:a16="http://schemas.microsoft.com/office/drawing/2014/main"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 xmlns:a16="http://schemas.microsoft.com/office/drawing/2014/main"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 xmlns:a16="http://schemas.microsoft.com/office/drawing/2014/main"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 xmlns:a16="http://schemas.microsoft.com/office/drawing/2014/main"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 xmlns:a16="http://schemas.microsoft.com/office/drawing/2014/main"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 xmlns:a16="http://schemas.microsoft.com/office/drawing/2014/main"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 xmlns:a16="http://schemas.microsoft.com/office/drawing/2014/main"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 xmlns:a16="http://schemas.microsoft.com/office/drawing/2014/main"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 xmlns:a16="http://schemas.microsoft.com/office/drawing/2014/main"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 xmlns:a16="http://schemas.microsoft.com/office/drawing/2014/main"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 xmlns:a16="http://schemas.microsoft.com/office/drawing/2014/main" id="{F0E82741-EECD-7D5E-DA50-894B61C9F926}"/>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2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 xmlns:a16="http://schemas.microsoft.com/office/drawing/2014/main"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 xmlns:a16="http://schemas.microsoft.com/office/drawing/2014/main"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 xmlns:a16="http://schemas.microsoft.com/office/drawing/2014/main" id="{792E8758-AC20-EA9F-2FD3-F5B9E92540F5}"/>
              </a:ext>
            </a:extLst>
          </p:cNvPr>
          <p:cNvPicPr>
            <a:picLocks noChangeAspect="1"/>
          </p:cNvPicPr>
          <p:nvPr userDrawn="1"/>
        </p:nvPicPr>
        <p:blipFill>
          <a:blip>
            <a:extLst>
              <a:ext uri="{96DAC541-7B7A-43D3-8B79-37D633B846F1}">
                <asvg:svgBlip xmlns="" xmlns:asvg="http://schemas.microsoft.com/office/drawing/2016/SVG/main"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7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 xmlns:a16="http://schemas.microsoft.com/office/drawing/2014/main" id="{B6B4F07B-D6B3-E5C8-D832-E51E0E864BB7}"/>
              </a:ext>
            </a:extLst>
          </p:cNvPr>
          <p:cNvPicPr>
            <a:picLocks noChangeAspect="1"/>
          </p:cNvPicPr>
          <p:nvPr userDrawn="1"/>
        </p:nvPicPr>
        <p:blipFill>
          <a:blip>
            <a:extLst>
              <a:ext uri="{96DAC541-7B7A-43D3-8B79-37D633B846F1}">
                <asvg:svgBlip xmlns="" xmlns:asvg="http://schemas.microsoft.com/office/drawing/2016/SVG/main"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 xmlns:a16="http://schemas.microsoft.com/office/drawing/2014/main"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 xmlns:a16="http://schemas.microsoft.com/office/drawing/2014/main"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 xmlns:a16="http://schemas.microsoft.com/office/drawing/2014/main"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 xmlns:a16="http://schemas.microsoft.com/office/drawing/2014/main"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5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 xmlns:a16="http://schemas.microsoft.com/office/drawing/2014/main"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 xmlns:a16="http://schemas.microsoft.com/office/drawing/2014/main" id="{CEBDEADF-0953-6CAE-7213-DECA8F5A09E3}"/>
              </a:ext>
            </a:extLst>
          </p:cNvPr>
          <p:cNvPicPr>
            <a:picLocks noChangeAspect="1"/>
          </p:cNvPicPr>
          <p:nvPr userDrawn="1"/>
        </p:nvPicPr>
        <p:blipFill>
          <a:blip>
            <a:extLst>
              <a:ext uri="{96DAC541-7B7A-43D3-8B79-37D633B846F1}">
                <asvg:svgBlip xmlns="" xmlns:asvg="http://schemas.microsoft.com/office/drawing/2016/SVG/main"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 xmlns:a16="http://schemas.microsoft.com/office/drawing/2014/main"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 xmlns:a16="http://schemas.microsoft.com/office/drawing/2014/main"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 xmlns:a16="http://schemas.microsoft.com/office/drawing/2014/main"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 xmlns:a16="http://schemas.microsoft.com/office/drawing/2014/main"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 xmlns:a16="http://schemas.microsoft.com/office/drawing/2014/main"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xmlns=""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13.08.2026</a:t>
            </a:fld>
            <a:endParaRPr lang="ru-RU">
              <a:solidFill>
                <a:srgbClr val="000000"/>
              </a:solidFill>
            </a:endParaRPr>
          </a:p>
        </p:txBody>
      </p:sp>
      <p:sp>
        <p:nvSpPr>
          <p:cNvPr id="3" name="Нижний колонтитул 2">
            <a:extLst>
              <a:ext uri="{FF2B5EF4-FFF2-40B4-BE49-F238E27FC236}">
                <a16:creationId xmlns:a16="http://schemas.microsoft.com/office/drawing/2014/main" xmlns=""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a16="http://schemas.microsoft.com/office/drawing/2014/main" xmlns=""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xmlns=""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xmlns=""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13.08.2026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xmlns=""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xmlns=""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xmlns=""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13.08.2026</a:t>
            </a:fld>
            <a:endParaRPr lang="ru-RU">
              <a:solidFill>
                <a:srgbClr val="000000"/>
              </a:solidFill>
            </a:endParaRPr>
          </a:p>
        </p:txBody>
      </p:sp>
      <p:sp>
        <p:nvSpPr>
          <p:cNvPr id="5" name="Нижний колонтитул 4">
            <a:extLst>
              <a:ext uri="{FF2B5EF4-FFF2-40B4-BE49-F238E27FC236}">
                <a16:creationId xmlns:a16="http://schemas.microsoft.com/office/drawing/2014/main" xmlns=""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a16="http://schemas.microsoft.com/office/drawing/2014/main" xmlns=""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 xmlns:a16="http://schemas.microsoft.com/office/drawing/2014/main"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 xmlns:a16="http://schemas.microsoft.com/office/drawing/2014/main"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54"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 xmlns:a16="http://schemas.microsoft.com/office/drawing/2014/main"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 xmlns:a16="http://schemas.microsoft.com/office/drawing/2014/main"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06"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 xmlns:a16="http://schemas.microsoft.com/office/drawing/2014/main"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 xmlns:a16="http://schemas.microsoft.com/office/drawing/2014/main"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 xmlns:a16="http://schemas.microsoft.com/office/drawing/2014/main"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 xmlns:p15="http://schemas.microsoft.com/office/powerpoint/2012/main">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8.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 xmlns:a16="http://schemas.microsoft.com/office/drawing/2014/main"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18"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 xmlns:a16="http://schemas.microsoft.com/office/drawing/2014/main"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 xmlns:a16="http://schemas.microsoft.com/office/drawing/2014/main"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 xmlns:a16="http://schemas.microsoft.com/office/drawing/2014/main" id="{8BCCF240-086B-DEFA-BC9A-4868CDC7DEA8}"/>
              </a:ext>
            </a:extLst>
          </p:cNvPr>
          <p:cNvSpPr>
            <a:spLocks noGrp="1"/>
          </p:cNvSpPr>
          <p:nvPr>
            <p:ph type="ctrTitle"/>
          </p:nvPr>
        </p:nvSpPr>
        <p:spPr/>
        <p:txBody>
          <a:bodyPr vert="horz"/>
          <a:lstStyle/>
          <a:p>
            <a:r>
              <a:rPr lang="en-US" dirty="0" err="1" smtClean="0"/>
              <a:t>MLflow</a:t>
            </a:r>
            <a:r>
              <a:rPr lang="en-US" dirty="0" smtClean="0"/>
              <a:t> Part-01</a:t>
            </a:r>
            <a:endParaRPr lang="en-US" dirty="0"/>
          </a:p>
        </p:txBody>
      </p:sp>
      <p:sp>
        <p:nvSpPr>
          <p:cNvPr id="11" name="Subtitle 10">
            <a:extLst>
              <a:ext uri="{FF2B5EF4-FFF2-40B4-BE49-F238E27FC236}">
                <a16:creationId xmlns="" xmlns:a16="http://schemas.microsoft.com/office/drawing/2014/main"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Objectives</a:t>
            </a: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158813"/>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is an open-source platform that helps manage the complete Machine Learning lifecycle. It is one of the core tools used in </a:t>
            </a:r>
            <a:r>
              <a:rPr lang="en-US" dirty="0" err="1"/>
              <a:t>MLOps</a:t>
            </a:r>
            <a:r>
              <a:rPr lang="en-US" dirty="0"/>
              <a:t> (Machine Learning Operations</a:t>
            </a:r>
            <a:r>
              <a:rPr lang="en-US" dirty="0" smtClean="0"/>
              <a:t>).</a:t>
            </a:r>
          </a:p>
          <a:p>
            <a:pPr>
              <a:buClr>
                <a:srgbClr val="00B0F0"/>
              </a:buClr>
              <a:buFont typeface="Courier New" panose="02070309020205020404" pitchFamily="49" charset="0"/>
              <a:buChar char="o"/>
            </a:pPr>
            <a:r>
              <a:rPr lang="en-US" dirty="0"/>
              <a:t>Understand </a:t>
            </a:r>
            <a:r>
              <a:rPr lang="en-US" dirty="0" err="1"/>
              <a:t>MLflow</a:t>
            </a:r>
            <a:r>
              <a:rPr lang="en-US" dirty="0"/>
              <a:t> and its role in </a:t>
            </a:r>
            <a:r>
              <a:rPr lang="en-US" dirty="0" err="1"/>
              <a:t>MLOps</a:t>
            </a:r>
            <a:r>
              <a:rPr lang="en-US" dirty="0" smtClean="0"/>
              <a:t>.</a:t>
            </a:r>
          </a:p>
          <a:p>
            <a:pPr>
              <a:buClr>
                <a:srgbClr val="00B0F0"/>
              </a:buClr>
              <a:buFont typeface="Courier New" panose="02070309020205020404" pitchFamily="49" charset="0"/>
              <a:buChar char="o"/>
            </a:pPr>
            <a:r>
              <a:rPr lang="en-US" dirty="0" smtClean="0"/>
              <a:t>Track </a:t>
            </a:r>
            <a:r>
              <a:rPr lang="en-US" dirty="0"/>
              <a:t>experiments, parameters, metrics, and artifacts</a:t>
            </a:r>
            <a:r>
              <a:rPr lang="en-US" dirty="0" smtClean="0"/>
              <a:t>.</a:t>
            </a:r>
          </a:p>
          <a:p>
            <a:pPr>
              <a:buClr>
                <a:srgbClr val="00B0F0"/>
              </a:buClr>
              <a:buFont typeface="Courier New" panose="02070309020205020404" pitchFamily="49" charset="0"/>
              <a:buChar char="o"/>
            </a:pPr>
            <a:r>
              <a:rPr lang="en-US" dirty="0" smtClean="0"/>
              <a:t>Manage </a:t>
            </a:r>
            <a:r>
              <a:rPr lang="en-US" dirty="0"/>
              <a:t>and version ML models</a:t>
            </a:r>
            <a:r>
              <a:rPr lang="en-US" dirty="0" smtClean="0"/>
              <a:t>.</a:t>
            </a:r>
          </a:p>
          <a:p>
            <a:pPr>
              <a:buClr>
                <a:srgbClr val="00B0F0"/>
              </a:buClr>
              <a:buFont typeface="Courier New" panose="02070309020205020404" pitchFamily="49" charset="0"/>
              <a:buChar char="o"/>
            </a:pPr>
            <a:r>
              <a:rPr lang="en-US" dirty="0" smtClean="0"/>
              <a:t>Use </a:t>
            </a:r>
            <a:r>
              <a:rPr lang="en-US" dirty="0"/>
              <a:t>the </a:t>
            </a:r>
            <a:r>
              <a:rPr lang="en-US" dirty="0" err="1"/>
              <a:t>MLflow</a:t>
            </a:r>
            <a:r>
              <a:rPr lang="en-US" dirty="0"/>
              <a:t> Model Registry</a:t>
            </a:r>
            <a:r>
              <a:rPr lang="en-US" dirty="0" smtClean="0"/>
              <a:t>.</a:t>
            </a:r>
          </a:p>
          <a:p>
            <a:pPr>
              <a:buClr>
                <a:srgbClr val="00B0F0"/>
              </a:buClr>
              <a:buFont typeface="Courier New" panose="02070309020205020404" pitchFamily="49" charset="0"/>
              <a:buChar char="o"/>
            </a:pPr>
            <a:r>
              <a:rPr lang="en-US" dirty="0" smtClean="0"/>
              <a:t>Deploy </a:t>
            </a:r>
            <a:r>
              <a:rPr lang="en-US" dirty="0"/>
              <a:t>and serve </a:t>
            </a:r>
            <a:r>
              <a:rPr lang="en-US" dirty="0" err="1"/>
              <a:t>MLflow</a:t>
            </a:r>
            <a:r>
              <a:rPr lang="en-US" dirty="0"/>
              <a:t> models.</a:t>
            </a:r>
            <a:endParaRPr lang="en-US" dirty="0" smtClean="0"/>
          </a:p>
        </p:txBody>
      </p:sp>
    </p:spTree>
    <p:extLst>
      <p:ext uri="{BB962C8B-B14F-4D97-AF65-F5344CB8AC3E}">
        <p14:creationId xmlns:p14="http://schemas.microsoft.com/office/powerpoint/2010/main" val="23471744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a:t>
            </a:r>
            <a:r>
              <a:rPr lang="en-CA" dirty="0" err="1"/>
              <a:t>MLflow</a:t>
            </a:r>
            <a:r>
              <a:rPr lang="en-CA"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632789"/>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is an open-source platform that helps manage the complete Machine Learning lifecycle. It is one of the core tools used in </a:t>
            </a:r>
            <a:r>
              <a:rPr lang="en-US" dirty="0" err="1"/>
              <a:t>MLOps</a:t>
            </a:r>
            <a:r>
              <a:rPr lang="en-US" dirty="0"/>
              <a:t> (Machine Learning Operations</a:t>
            </a:r>
            <a:r>
              <a:rPr lang="en-US" dirty="0" smtClean="0"/>
              <a:t>).</a:t>
            </a:r>
          </a:p>
          <a:p>
            <a:pPr>
              <a:buClr>
                <a:srgbClr val="00B0F0"/>
              </a:buClr>
              <a:buFont typeface="Courier New" panose="02070309020205020404" pitchFamily="49" charset="0"/>
              <a:buChar char="o"/>
            </a:pPr>
            <a:r>
              <a:rPr lang="en-US" dirty="0" err="1"/>
              <a:t>MLflow</a:t>
            </a:r>
            <a:r>
              <a:rPr lang="en-US" dirty="0"/>
              <a:t> provides capabilities for:</a:t>
            </a:r>
          </a:p>
          <a:p>
            <a:pPr lvl="1">
              <a:buClr>
                <a:srgbClr val="00B0F0"/>
              </a:buClr>
              <a:buFont typeface="Courier New" panose="02070309020205020404" pitchFamily="49" charset="0"/>
              <a:buChar char="o"/>
            </a:pPr>
            <a:r>
              <a:rPr lang="en-US" dirty="0" smtClean="0"/>
              <a:t>Experiment </a:t>
            </a:r>
            <a:r>
              <a:rPr lang="en-US" dirty="0"/>
              <a:t>Tracking </a:t>
            </a:r>
          </a:p>
          <a:p>
            <a:pPr lvl="1">
              <a:buClr>
                <a:srgbClr val="00B0F0"/>
              </a:buClr>
              <a:buFont typeface="Courier New" panose="02070309020205020404" pitchFamily="49" charset="0"/>
              <a:buChar char="o"/>
            </a:pPr>
            <a:r>
              <a:rPr lang="en-US" dirty="0" smtClean="0"/>
              <a:t>Model </a:t>
            </a:r>
            <a:r>
              <a:rPr lang="en-US" dirty="0"/>
              <a:t>Packaging </a:t>
            </a:r>
          </a:p>
          <a:p>
            <a:pPr lvl="1">
              <a:buClr>
                <a:srgbClr val="00B0F0"/>
              </a:buClr>
              <a:buFont typeface="Courier New" panose="02070309020205020404" pitchFamily="49" charset="0"/>
              <a:buChar char="o"/>
            </a:pPr>
            <a:r>
              <a:rPr lang="en-US" dirty="0" smtClean="0"/>
              <a:t>Model </a:t>
            </a:r>
            <a:r>
              <a:rPr lang="en-US" dirty="0"/>
              <a:t>Registry </a:t>
            </a:r>
          </a:p>
          <a:p>
            <a:pPr lvl="1">
              <a:buClr>
                <a:srgbClr val="00B0F0"/>
              </a:buClr>
              <a:buFont typeface="Courier New" panose="02070309020205020404" pitchFamily="49" charset="0"/>
              <a:buChar char="o"/>
            </a:pPr>
            <a:r>
              <a:rPr lang="en-US" dirty="0" smtClean="0"/>
              <a:t>Model </a:t>
            </a:r>
            <a:r>
              <a:rPr lang="en-US" dirty="0"/>
              <a:t>Deployment </a:t>
            </a:r>
          </a:p>
          <a:p>
            <a:pPr lvl="1">
              <a:buClr>
                <a:srgbClr val="00B0F0"/>
              </a:buClr>
              <a:buFont typeface="Courier New" panose="02070309020205020404" pitchFamily="49" charset="0"/>
              <a:buChar char="o"/>
            </a:pPr>
            <a:r>
              <a:rPr lang="en-US" dirty="0" smtClean="0"/>
              <a:t>Collaboration </a:t>
            </a:r>
            <a:r>
              <a:rPr lang="en-US" dirty="0"/>
              <a:t>among Data Scientists</a:t>
            </a:r>
          </a:p>
          <a:p>
            <a:pPr>
              <a:buClr>
                <a:srgbClr val="00B0F0"/>
              </a:buClr>
              <a:buFont typeface="Courier New" panose="02070309020205020404" pitchFamily="49" charset="0"/>
              <a:buChar char="o"/>
            </a:pPr>
            <a:endParaRPr lang="en-US" dirty="0" smtClean="0"/>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Why Do We Need </a:t>
            </a:r>
            <a:r>
              <a:rPr lang="en-US" dirty="0" err="1"/>
              <a:t>MLflow</a:t>
            </a:r>
            <a:r>
              <a:rPr lang="en-US"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837974"/>
          </a:xfrm>
        </p:spPr>
        <p:txBody>
          <a:bodyPr/>
          <a:lstStyle/>
          <a:p>
            <a:pPr>
              <a:buClr>
                <a:srgbClr val="00B0F0"/>
              </a:buClr>
              <a:buFont typeface="Courier New" panose="02070309020205020404" pitchFamily="49" charset="0"/>
              <a:buChar char="o"/>
            </a:pPr>
            <a:r>
              <a:rPr lang="en-US" dirty="0" smtClean="0"/>
              <a:t>Imagine </a:t>
            </a:r>
            <a:r>
              <a:rPr lang="en-US" dirty="0"/>
              <a:t>a team of data scientists working on an anomaly detection project.</a:t>
            </a:r>
          </a:p>
          <a:p>
            <a:pPr>
              <a:buClr>
                <a:srgbClr val="00B0F0"/>
              </a:buClr>
              <a:buFont typeface="Courier New" panose="02070309020205020404" pitchFamily="49" charset="0"/>
              <a:buChar char="o"/>
            </a:pPr>
            <a:r>
              <a:rPr lang="en-US" dirty="0"/>
              <a:t>Example Scenario</a:t>
            </a:r>
          </a:p>
          <a:p>
            <a:pPr>
              <a:buClr>
                <a:srgbClr val="00B0F0"/>
              </a:buClr>
              <a:buFont typeface="Courier New" panose="02070309020205020404" pitchFamily="49" charset="0"/>
              <a:buChar char="o"/>
            </a:pPr>
            <a:r>
              <a:rPr lang="en-US" dirty="0"/>
              <a:t>Two data scientists, Kathy and </a:t>
            </a:r>
            <a:r>
              <a:rPr lang="en-US" dirty="0" err="1"/>
              <a:t>Venkat</a:t>
            </a:r>
            <a:r>
              <a:rPr lang="en-US" dirty="0"/>
              <a:t>, are working on the same problem.</a:t>
            </a:r>
          </a:p>
          <a:p>
            <a:pPr>
              <a:buClr>
                <a:srgbClr val="00B0F0"/>
              </a:buClr>
              <a:buFont typeface="Courier New" panose="02070309020205020404" pitchFamily="49" charset="0"/>
              <a:buChar char="o"/>
            </a:pPr>
            <a:r>
              <a:rPr lang="en-US" dirty="0"/>
              <a:t>Kathy experiments with:</a:t>
            </a:r>
          </a:p>
          <a:p>
            <a:pPr lvl="1">
              <a:buClr>
                <a:srgbClr val="00B0F0"/>
              </a:buClr>
              <a:buFont typeface="Courier New" panose="02070309020205020404" pitchFamily="49" charset="0"/>
              <a:buChar char="o"/>
            </a:pPr>
            <a:r>
              <a:rPr lang="en-US" dirty="0" smtClean="0"/>
              <a:t>Logistic </a:t>
            </a:r>
            <a:r>
              <a:rPr lang="en-US" dirty="0"/>
              <a:t>Regression </a:t>
            </a:r>
          </a:p>
          <a:p>
            <a:pPr lvl="1">
              <a:buClr>
                <a:srgbClr val="00B0F0"/>
              </a:buClr>
              <a:buFont typeface="Courier New" panose="02070309020205020404" pitchFamily="49" charset="0"/>
              <a:buChar char="o"/>
            </a:pPr>
            <a:r>
              <a:rPr lang="en-US" dirty="0" smtClean="0"/>
              <a:t>Different </a:t>
            </a:r>
            <a:r>
              <a:rPr lang="en-US" dirty="0" err="1"/>
              <a:t>hyperparameters</a:t>
            </a:r>
            <a:r>
              <a:rPr lang="en-US" dirty="0"/>
              <a:t> </a:t>
            </a:r>
          </a:p>
          <a:p>
            <a:pPr lvl="1">
              <a:buClr>
                <a:srgbClr val="00B0F0"/>
              </a:buClr>
              <a:buFont typeface="Courier New" panose="02070309020205020404" pitchFamily="49" charset="0"/>
              <a:buChar char="o"/>
            </a:pPr>
            <a:r>
              <a:rPr lang="en-US" dirty="0" smtClean="0"/>
              <a:t>Dataset </a:t>
            </a:r>
            <a:r>
              <a:rPr lang="en-US" dirty="0"/>
              <a:t>Version 1 </a:t>
            </a:r>
          </a:p>
          <a:p>
            <a:pPr lvl="1">
              <a:buClr>
                <a:srgbClr val="00B0F0"/>
              </a:buClr>
              <a:buFont typeface="Courier New" panose="02070309020205020404" pitchFamily="49" charset="0"/>
              <a:buChar char="o"/>
            </a:pPr>
            <a:r>
              <a:rPr lang="en-US" dirty="0" smtClean="0"/>
              <a:t>Multiple </a:t>
            </a:r>
            <a:r>
              <a:rPr lang="en-US" dirty="0"/>
              <a:t>feature engineering techniques </a:t>
            </a:r>
          </a:p>
          <a:p>
            <a:pPr>
              <a:buClr>
                <a:srgbClr val="00B0F0"/>
              </a:buClr>
              <a:buFont typeface="Courier New" panose="02070309020205020404" pitchFamily="49" charset="0"/>
              <a:buChar char="o"/>
            </a:pPr>
            <a:r>
              <a:rPr lang="en-US" dirty="0"/>
              <a:t>After a month, a new dataset (Version 2) arrives with additional features.</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CA" dirty="0"/>
              <a:t>What is Machine Learning?</a:t>
            </a:r>
          </a:p>
          <a:p>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81103"/>
          </a:xfrm>
        </p:spPr>
        <p:txBody>
          <a:bodyPr/>
          <a:lstStyle/>
          <a:p>
            <a:pPr>
              <a:buClr>
                <a:srgbClr val="00B0F0"/>
              </a:buClr>
              <a:buFont typeface="Courier New" panose="02070309020205020404" pitchFamily="49" charset="0"/>
              <a:buChar char="o"/>
            </a:pPr>
            <a:endParaRPr lang="en-US" dirty="0"/>
          </a:p>
        </p:txBody>
      </p:sp>
      <p:pic>
        <p:nvPicPr>
          <p:cNvPr id="5" name="Picture 4"/>
          <p:cNvPicPr/>
          <p:nvPr/>
        </p:nvPicPr>
        <p:blipFill>
          <a:blip r:embed="rId2">
            <a:extLst>
              <a:ext uri="{28A0092B-C50C-407E-A947-70E740481C1C}">
                <a14:useLocalDpi xmlns:a14="http://schemas.microsoft.com/office/drawing/2010/main" val="0"/>
              </a:ext>
            </a:extLst>
          </a:blip>
          <a:srcRect/>
          <a:stretch>
            <a:fillRect/>
          </a:stretch>
        </p:blipFill>
        <p:spPr bwMode="auto">
          <a:xfrm>
            <a:off x="4296030" y="1951851"/>
            <a:ext cx="6874479" cy="3855823"/>
          </a:xfrm>
          <a:prstGeom prst="rect">
            <a:avLst/>
          </a:prstGeom>
          <a:noFill/>
          <a:ln>
            <a:noFill/>
          </a:ln>
        </p:spPr>
      </p:pic>
      <p:pic>
        <p:nvPicPr>
          <p:cNvPr id="8" name="Picture 7"/>
          <p:cNvPicPr/>
          <p:nvPr/>
        </p:nvPicPr>
        <p:blipFill>
          <a:blip r:embed="rId3">
            <a:extLst>
              <a:ext uri="{28A0092B-C50C-407E-A947-70E740481C1C}">
                <a14:useLocalDpi xmlns:a14="http://schemas.microsoft.com/office/drawing/2010/main" val="0"/>
              </a:ext>
            </a:extLst>
          </a:blip>
          <a:srcRect/>
          <a:stretch>
            <a:fillRect/>
          </a:stretch>
        </p:blipFill>
        <p:spPr bwMode="auto">
          <a:xfrm>
            <a:off x="708325" y="2653485"/>
            <a:ext cx="1952625" cy="1724025"/>
          </a:xfrm>
          <a:prstGeom prst="rect">
            <a:avLst/>
          </a:prstGeom>
          <a:noFill/>
          <a:ln>
            <a:noFill/>
          </a:ln>
        </p:spPr>
      </p:pic>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Why Do We Need </a:t>
            </a:r>
            <a:r>
              <a:rPr lang="en-US" dirty="0" err="1"/>
              <a:t>MLflow</a:t>
            </a:r>
            <a:r>
              <a:rPr lang="en-US"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2171877"/>
          </a:xfrm>
        </p:spPr>
        <p:txBody>
          <a:bodyPr/>
          <a:lstStyle/>
          <a:p>
            <a:pPr>
              <a:buClr>
                <a:srgbClr val="00B0F0"/>
              </a:buClr>
              <a:buFont typeface="Courier New" panose="02070309020205020404" pitchFamily="49" charset="0"/>
              <a:buChar char="o"/>
            </a:pPr>
            <a:r>
              <a:rPr lang="en-US" dirty="0" smtClean="0"/>
              <a:t>Meanwhile</a:t>
            </a:r>
            <a:r>
              <a:rPr lang="en-US" dirty="0"/>
              <a:t>, </a:t>
            </a:r>
            <a:r>
              <a:rPr lang="en-US" dirty="0" err="1"/>
              <a:t>Venkat</a:t>
            </a:r>
            <a:r>
              <a:rPr lang="en-US" dirty="0"/>
              <a:t> is:</a:t>
            </a:r>
          </a:p>
          <a:p>
            <a:pPr lvl="1">
              <a:buClr>
                <a:srgbClr val="00B0F0"/>
              </a:buClr>
              <a:buFont typeface="Courier New" panose="02070309020205020404" pitchFamily="49" charset="0"/>
              <a:buChar char="o"/>
            </a:pPr>
            <a:r>
              <a:rPr lang="en-US" dirty="0" smtClean="0"/>
              <a:t>Working </a:t>
            </a:r>
            <a:r>
              <a:rPr lang="en-US" dirty="0"/>
              <a:t>on class imbalance </a:t>
            </a:r>
          </a:p>
          <a:p>
            <a:pPr lvl="1">
              <a:buClr>
                <a:srgbClr val="00B0F0"/>
              </a:buClr>
              <a:buFont typeface="Courier New" panose="02070309020205020404" pitchFamily="49" charset="0"/>
              <a:buChar char="o"/>
            </a:pPr>
            <a:r>
              <a:rPr lang="en-US" dirty="0" smtClean="0"/>
              <a:t>Trying </a:t>
            </a:r>
            <a:r>
              <a:rPr lang="en-US" dirty="0"/>
              <a:t>Random Forest </a:t>
            </a:r>
          </a:p>
          <a:p>
            <a:pPr lvl="1">
              <a:buClr>
                <a:srgbClr val="00B0F0"/>
              </a:buClr>
              <a:buFont typeface="Courier New" panose="02070309020205020404" pitchFamily="49" charset="0"/>
              <a:buChar char="o"/>
            </a:pPr>
            <a:r>
              <a:rPr lang="en-US" dirty="0" smtClean="0"/>
              <a:t>Trying </a:t>
            </a:r>
            <a:r>
              <a:rPr lang="en-US" dirty="0" err="1"/>
              <a:t>XGBoost</a:t>
            </a:r>
            <a:r>
              <a:rPr lang="en-US" dirty="0"/>
              <a:t> </a:t>
            </a:r>
          </a:p>
          <a:p>
            <a:pPr lvl="1">
              <a:buClr>
                <a:srgbClr val="00B0F0"/>
              </a:buClr>
              <a:buFont typeface="Courier New" panose="02070309020205020404" pitchFamily="49" charset="0"/>
              <a:buChar char="o"/>
            </a:pPr>
            <a:r>
              <a:rPr lang="en-US" dirty="0" smtClean="0"/>
              <a:t>Using </a:t>
            </a:r>
            <a:r>
              <a:rPr lang="en-US" dirty="0"/>
              <a:t>SMOTE </a:t>
            </a:r>
          </a:p>
          <a:p>
            <a:pPr lvl="1">
              <a:buClr>
                <a:srgbClr val="00B0F0"/>
              </a:buClr>
              <a:buFont typeface="Courier New" panose="02070309020205020404" pitchFamily="49" charset="0"/>
              <a:buChar char="o"/>
            </a:pPr>
            <a:r>
              <a:rPr lang="en-US" dirty="0" smtClean="0"/>
              <a:t>Testing </a:t>
            </a:r>
            <a:r>
              <a:rPr lang="en-US" dirty="0"/>
              <a:t>different parameters</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725315" y="3881180"/>
            <a:ext cx="6367463" cy="2284842"/>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9108088" y="4218545"/>
            <a:ext cx="1019175" cy="1238250"/>
          </a:xfrm>
          <a:prstGeom prst="rect">
            <a:avLst/>
          </a:prstGeom>
          <a:noFill/>
          <a:ln>
            <a:noFill/>
          </a:ln>
        </p:spPr>
      </p:pic>
    </p:spTree>
    <p:extLst>
      <p:ext uri="{BB962C8B-B14F-4D97-AF65-F5344CB8AC3E}">
        <p14:creationId xmlns:p14="http://schemas.microsoft.com/office/powerpoint/2010/main" val="153289358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a:xfrm>
            <a:off x="334937" y="245863"/>
            <a:ext cx="11478122" cy="557326"/>
          </a:xfrm>
        </p:spPr>
        <p:txBody>
          <a:bodyPr/>
          <a:lstStyle/>
          <a:p>
            <a:r>
              <a:rPr lang="en-US" dirty="0"/>
              <a:t>Why Do We Need </a:t>
            </a:r>
            <a:r>
              <a:rPr lang="en-US" dirty="0" err="1"/>
              <a:t>MLflow</a:t>
            </a:r>
            <a:r>
              <a:rPr lang="en-US" dirty="0"/>
              <a:t>?</a:t>
            </a: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34937" y="1029334"/>
            <a:ext cx="11450409" cy="3191643"/>
          </a:xfrm>
        </p:spPr>
        <p:txBody>
          <a:bodyPr/>
          <a:lstStyle/>
          <a:p>
            <a:pPr>
              <a:buClr>
                <a:srgbClr val="00B0F0"/>
              </a:buClr>
              <a:buFont typeface="Courier New" panose="02070309020205020404" pitchFamily="49" charset="0"/>
              <a:buChar char="o"/>
            </a:pPr>
            <a:r>
              <a:rPr lang="en-US" dirty="0" smtClean="0"/>
              <a:t>Each </a:t>
            </a:r>
            <a:r>
              <a:rPr lang="en-US" dirty="0"/>
              <a:t>person now has:</a:t>
            </a:r>
          </a:p>
          <a:p>
            <a:pPr lvl="1">
              <a:buClr>
                <a:srgbClr val="00B0F0"/>
              </a:buClr>
              <a:buFont typeface="Courier New" panose="02070309020205020404" pitchFamily="49" charset="0"/>
              <a:buChar char="o"/>
            </a:pPr>
            <a:r>
              <a:rPr lang="en-US" dirty="0" smtClean="0"/>
              <a:t>Multiple </a:t>
            </a:r>
            <a:r>
              <a:rPr lang="en-US" dirty="0"/>
              <a:t>notebooks </a:t>
            </a:r>
          </a:p>
          <a:p>
            <a:pPr lvl="1">
              <a:buClr>
                <a:srgbClr val="00B0F0"/>
              </a:buClr>
              <a:buFont typeface="Courier New" panose="02070309020205020404" pitchFamily="49" charset="0"/>
              <a:buChar char="o"/>
            </a:pPr>
            <a:r>
              <a:rPr lang="en-US" dirty="0" smtClean="0"/>
              <a:t>Different </a:t>
            </a:r>
            <a:r>
              <a:rPr lang="en-US" dirty="0"/>
              <a:t>datasets </a:t>
            </a:r>
          </a:p>
          <a:p>
            <a:pPr lvl="1">
              <a:buClr>
                <a:srgbClr val="00B0F0"/>
              </a:buClr>
              <a:buFont typeface="Courier New" panose="02070309020205020404" pitchFamily="49" charset="0"/>
              <a:buChar char="o"/>
            </a:pPr>
            <a:r>
              <a:rPr lang="en-US" dirty="0" smtClean="0"/>
              <a:t>Different </a:t>
            </a:r>
            <a:r>
              <a:rPr lang="en-US" dirty="0"/>
              <a:t>model versions </a:t>
            </a:r>
          </a:p>
          <a:p>
            <a:pPr lvl="1">
              <a:buClr>
                <a:srgbClr val="00B0F0"/>
              </a:buClr>
              <a:buFont typeface="Courier New" panose="02070309020205020404" pitchFamily="49" charset="0"/>
              <a:buChar char="o"/>
            </a:pPr>
            <a:r>
              <a:rPr lang="en-US" dirty="0" smtClean="0"/>
              <a:t>Different </a:t>
            </a:r>
            <a:r>
              <a:rPr lang="en-US" dirty="0" err="1"/>
              <a:t>hyperparameters</a:t>
            </a:r>
            <a:r>
              <a:rPr lang="en-US" dirty="0"/>
              <a:t> </a:t>
            </a:r>
          </a:p>
          <a:p>
            <a:pPr lvl="1">
              <a:buClr>
                <a:srgbClr val="00B0F0"/>
              </a:buClr>
              <a:buFont typeface="Courier New" panose="02070309020205020404" pitchFamily="49" charset="0"/>
              <a:buChar char="o"/>
            </a:pPr>
            <a:r>
              <a:rPr lang="en-US" dirty="0" smtClean="0"/>
              <a:t>Different </a:t>
            </a:r>
            <a:r>
              <a:rPr lang="en-US" dirty="0"/>
              <a:t>evaluation metrics </a:t>
            </a:r>
          </a:p>
          <a:p>
            <a:pPr>
              <a:buClr>
                <a:srgbClr val="00B0F0"/>
              </a:buClr>
              <a:buFont typeface="Courier New" panose="02070309020205020404" pitchFamily="49" charset="0"/>
              <a:buChar char="o"/>
            </a:pPr>
            <a:r>
              <a:rPr lang="en-US" dirty="0"/>
              <a:t>Managing all of this manually becomes difficult.</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4790317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Problems Without </a:t>
            </a:r>
            <a:r>
              <a:rPr lang="en-IN" dirty="0" err="1"/>
              <a:t>MLflow</a:t>
            </a:r>
            <a:r>
              <a:rPr lang="en-IN" dirty="0" smtClean="0"/>
              <a:t/>
            </a:r>
            <a:br>
              <a:rPr lang="en-IN" dirty="0" smtClean="0"/>
            </a:br>
            <a:endParaRPr lang="en-US" dirty="0" smtClean="0"/>
          </a:p>
          <a:p>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90360" y="1346886"/>
            <a:ext cx="11450409" cy="5094728"/>
          </a:xfrm>
        </p:spPr>
        <p:txBody>
          <a:bodyPr/>
          <a:lstStyle/>
          <a:p>
            <a:pPr>
              <a:buClr>
                <a:srgbClr val="00B0F0"/>
              </a:buClr>
              <a:buFont typeface="Courier New" panose="02070309020205020404" pitchFamily="49" charset="0"/>
              <a:buChar char="o"/>
            </a:pPr>
            <a:r>
              <a:rPr lang="en-IN" dirty="0" smtClean="0"/>
              <a:t>Teams </a:t>
            </a:r>
            <a:r>
              <a:rPr lang="en-IN" dirty="0"/>
              <a:t>often store experiment results in Excel or Google Sheets</a:t>
            </a:r>
            <a:r>
              <a:rPr lang="en-IN"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smtClean="0"/>
              <a:t>This </a:t>
            </a:r>
            <a:r>
              <a:rPr lang="en-US" dirty="0"/>
              <a:t>approach has several drawbacks:</a:t>
            </a:r>
          </a:p>
          <a:p>
            <a:pPr lvl="1">
              <a:buClr>
                <a:srgbClr val="00B0F0"/>
              </a:buClr>
              <a:buFont typeface="Courier New" panose="02070309020205020404" pitchFamily="49" charset="0"/>
              <a:buChar char="o"/>
            </a:pPr>
            <a:r>
              <a:rPr lang="en-US" dirty="0" smtClean="0"/>
              <a:t>Easy </a:t>
            </a:r>
            <a:r>
              <a:rPr lang="en-US" dirty="0"/>
              <a:t>to forget recording experiments </a:t>
            </a:r>
          </a:p>
          <a:p>
            <a:pPr lvl="1">
              <a:buClr>
                <a:srgbClr val="00B0F0"/>
              </a:buClr>
              <a:buFont typeface="Courier New" panose="02070309020205020404" pitchFamily="49" charset="0"/>
              <a:buChar char="o"/>
            </a:pPr>
            <a:r>
              <a:rPr lang="en-US" dirty="0" smtClean="0"/>
              <a:t>Manual </a:t>
            </a:r>
            <a:r>
              <a:rPr lang="en-US" dirty="0"/>
              <a:t>errors </a:t>
            </a:r>
          </a:p>
          <a:p>
            <a:pPr lvl="1">
              <a:buClr>
                <a:srgbClr val="00B0F0"/>
              </a:buClr>
              <a:buFont typeface="Courier New" panose="02070309020205020404" pitchFamily="49" charset="0"/>
              <a:buChar char="o"/>
            </a:pPr>
            <a:r>
              <a:rPr lang="en-US" dirty="0" smtClean="0"/>
              <a:t>Difficult </a:t>
            </a:r>
            <a:r>
              <a:rPr lang="en-US" dirty="0"/>
              <a:t>to compare models </a:t>
            </a:r>
          </a:p>
          <a:p>
            <a:pPr lvl="1">
              <a:buClr>
                <a:srgbClr val="00B0F0"/>
              </a:buClr>
              <a:buFont typeface="Courier New" panose="02070309020205020404" pitchFamily="49" charset="0"/>
              <a:buChar char="o"/>
            </a:pPr>
            <a:r>
              <a:rPr lang="en-US" dirty="0" smtClean="0"/>
              <a:t>Cannot </a:t>
            </a:r>
            <a:r>
              <a:rPr lang="en-US" dirty="0"/>
              <a:t>download trained models </a:t>
            </a:r>
          </a:p>
          <a:p>
            <a:pPr lvl="1">
              <a:buClr>
                <a:srgbClr val="00B0F0"/>
              </a:buClr>
              <a:buFont typeface="Courier New" panose="02070309020205020404" pitchFamily="49" charset="0"/>
              <a:buChar char="o"/>
            </a:pPr>
            <a:r>
              <a:rPr lang="en-US" dirty="0" smtClean="0"/>
              <a:t>No </a:t>
            </a:r>
            <a:r>
              <a:rPr lang="en-US" dirty="0"/>
              <a:t>version control </a:t>
            </a:r>
          </a:p>
          <a:p>
            <a:pPr lvl="1">
              <a:buClr>
                <a:srgbClr val="00B0F0"/>
              </a:buClr>
              <a:buFont typeface="Courier New" panose="02070309020205020404" pitchFamily="49" charset="0"/>
              <a:buChar char="o"/>
            </a:pPr>
            <a:r>
              <a:rPr lang="en-US" dirty="0" smtClean="0"/>
              <a:t>Difficult collaboration</a:t>
            </a:r>
            <a:endParaRPr lang="en-IN" dirty="0" smtClean="0"/>
          </a:p>
        </p:txBody>
      </p:sp>
      <p:pic>
        <p:nvPicPr>
          <p:cNvPr id="5" name="Picture 4"/>
          <p:cNvPicPr/>
          <p:nvPr/>
        </p:nvPicPr>
        <p:blipFill>
          <a:blip r:embed="rId2"/>
          <a:stretch>
            <a:fillRect/>
          </a:stretch>
        </p:blipFill>
        <p:spPr>
          <a:xfrm>
            <a:off x="1710364" y="1892566"/>
            <a:ext cx="6086750" cy="1554969"/>
          </a:xfrm>
          <a:prstGeom prst="rect">
            <a:avLst/>
          </a:prstGeom>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How </a:t>
            </a:r>
            <a:r>
              <a:rPr lang="en-US" dirty="0" err="1"/>
              <a:t>MLflow</a:t>
            </a:r>
            <a:r>
              <a:rPr lang="en-US" dirty="0"/>
              <a:t> Solves These Problems</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4448397"/>
          </a:xfrm>
        </p:spPr>
        <p:txBody>
          <a:bodyPr/>
          <a:lstStyle/>
          <a:p>
            <a:pPr>
              <a:buClr>
                <a:srgbClr val="00B0F0"/>
              </a:buClr>
              <a:buFont typeface="Courier New" panose="02070309020205020404" pitchFamily="49" charset="0"/>
              <a:buChar char="o"/>
            </a:pPr>
            <a:r>
              <a:rPr lang="en-US" dirty="0" err="1" smtClean="0"/>
              <a:t>MLflow</a:t>
            </a:r>
            <a:r>
              <a:rPr lang="en-US" dirty="0" smtClean="0"/>
              <a:t> </a:t>
            </a:r>
            <a:r>
              <a:rPr lang="en-US" dirty="0"/>
              <a:t>automatically stores:</a:t>
            </a:r>
          </a:p>
          <a:p>
            <a:pPr lvl="1">
              <a:buClr>
                <a:srgbClr val="00B0F0"/>
              </a:buClr>
              <a:buFont typeface="Courier New" panose="02070309020205020404" pitchFamily="49" charset="0"/>
              <a:buChar char="o"/>
            </a:pPr>
            <a:r>
              <a:rPr lang="en-US" dirty="0" smtClean="0"/>
              <a:t>Experiment </a:t>
            </a:r>
            <a:r>
              <a:rPr lang="en-US" dirty="0"/>
              <a:t>name </a:t>
            </a:r>
          </a:p>
          <a:p>
            <a:pPr lvl="1">
              <a:buClr>
                <a:srgbClr val="00B0F0"/>
              </a:buClr>
              <a:buFont typeface="Courier New" panose="02070309020205020404" pitchFamily="49" charset="0"/>
              <a:buChar char="o"/>
            </a:pPr>
            <a:r>
              <a:rPr lang="en-US" dirty="0" smtClean="0"/>
              <a:t>Run </a:t>
            </a:r>
            <a:r>
              <a:rPr lang="en-US" dirty="0"/>
              <a:t>information </a:t>
            </a:r>
          </a:p>
          <a:p>
            <a:pPr lvl="1">
              <a:buClr>
                <a:srgbClr val="00B0F0"/>
              </a:buClr>
              <a:buFont typeface="Courier New" panose="02070309020205020404" pitchFamily="49" charset="0"/>
              <a:buChar char="o"/>
            </a:pPr>
            <a:r>
              <a:rPr lang="en-US" dirty="0" smtClean="0"/>
              <a:t>Parameters </a:t>
            </a:r>
            <a:endParaRPr lang="en-US" dirty="0"/>
          </a:p>
          <a:p>
            <a:pPr lvl="1">
              <a:buClr>
                <a:srgbClr val="00B0F0"/>
              </a:buClr>
              <a:buFont typeface="Courier New" panose="02070309020205020404" pitchFamily="49" charset="0"/>
              <a:buChar char="o"/>
            </a:pPr>
            <a:r>
              <a:rPr lang="en-US" dirty="0" smtClean="0"/>
              <a:t>Metrics </a:t>
            </a:r>
            <a:endParaRPr lang="en-US" dirty="0"/>
          </a:p>
          <a:p>
            <a:pPr lvl="1">
              <a:buClr>
                <a:srgbClr val="00B0F0"/>
              </a:buClr>
              <a:buFont typeface="Courier New" panose="02070309020205020404" pitchFamily="49" charset="0"/>
              <a:buChar char="o"/>
            </a:pPr>
            <a:r>
              <a:rPr lang="en-US" dirty="0" smtClean="0"/>
              <a:t>Model </a:t>
            </a:r>
            <a:r>
              <a:rPr lang="en-US" dirty="0"/>
              <a:t>artifacts </a:t>
            </a:r>
          </a:p>
          <a:p>
            <a:pPr lvl="1">
              <a:buClr>
                <a:srgbClr val="00B0F0"/>
              </a:buClr>
              <a:buFont typeface="Courier New" panose="02070309020205020404" pitchFamily="49" charset="0"/>
              <a:buChar char="o"/>
            </a:pPr>
            <a:r>
              <a:rPr lang="en-US" dirty="0" smtClean="0"/>
              <a:t>Dataset </a:t>
            </a:r>
            <a:r>
              <a:rPr lang="en-US" dirty="0"/>
              <a:t>information </a:t>
            </a:r>
          </a:p>
          <a:p>
            <a:pPr lvl="1">
              <a:buClr>
                <a:srgbClr val="00B0F0"/>
              </a:buClr>
              <a:buFont typeface="Courier New" panose="02070309020205020404" pitchFamily="49" charset="0"/>
              <a:buChar char="o"/>
            </a:pPr>
            <a:r>
              <a:rPr lang="en-US" dirty="0" smtClean="0"/>
              <a:t>Model </a:t>
            </a:r>
            <a:r>
              <a:rPr lang="en-US" dirty="0"/>
              <a:t>versions </a:t>
            </a:r>
          </a:p>
          <a:p>
            <a:pPr>
              <a:buClr>
                <a:srgbClr val="00B0F0"/>
              </a:buClr>
              <a:buFont typeface="Courier New" panose="02070309020205020404" pitchFamily="49" charset="0"/>
              <a:buChar char="o"/>
            </a:pPr>
            <a:r>
              <a:rPr lang="en-US" dirty="0"/>
              <a:t>Instead of Excel, everything is stored centrally</a:t>
            </a:r>
            <a:r>
              <a:rPr lang="en-US" dirty="0" smtClean="0"/>
              <a:t>.</a:t>
            </a:r>
            <a:endParaRPr lang="en-US" dirty="0" smtClean="0"/>
          </a:p>
          <a:p>
            <a:pPr marL="0" indent="0">
              <a:buClr>
                <a:srgbClr val="00B0F0"/>
              </a:buClr>
              <a:buNone/>
            </a:pPr>
            <a:endParaRPr lang="en-US" dirty="0" smtClean="0"/>
          </a:p>
          <a:p>
            <a:pPr marL="0" indent="0">
              <a:buClr>
                <a:srgbClr val="00B0F0"/>
              </a:buClr>
              <a:buNone/>
            </a:pPr>
            <a:endParaRPr lang="en-US" dirty="0" smtClean="0"/>
          </a:p>
        </p:txBody>
      </p:sp>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err="1"/>
              <a:t>MLflow</a:t>
            </a:r>
            <a:r>
              <a:rPr lang="en-IN" dirty="0"/>
              <a:t> Components</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210312" y="1096023"/>
            <a:ext cx="11450409" cy="2613023"/>
          </a:xfrm>
        </p:spPr>
        <p:txBody>
          <a:bodyPr/>
          <a:lstStyle/>
          <a:p>
            <a:pPr>
              <a:buClr>
                <a:srgbClr val="00B0F0"/>
              </a:buClr>
              <a:buFont typeface="Courier New" panose="02070309020205020404" pitchFamily="49" charset="0"/>
              <a:buChar char="o"/>
            </a:pPr>
            <a:r>
              <a:rPr lang="en-US" dirty="0" smtClean="0"/>
              <a:t>The </a:t>
            </a:r>
            <a:r>
              <a:rPr lang="en-US" dirty="0"/>
              <a:t>four major components of </a:t>
            </a:r>
            <a:r>
              <a:rPr lang="en-US" dirty="0" err="1"/>
              <a:t>MLflow</a:t>
            </a:r>
            <a:r>
              <a:rPr lang="en-US" dirty="0"/>
              <a:t> are:</a:t>
            </a:r>
          </a:p>
          <a:p>
            <a:pPr lvl="1">
              <a:buClr>
                <a:srgbClr val="00B0F0"/>
              </a:buClr>
              <a:buFont typeface="Courier New" panose="02070309020205020404" pitchFamily="49" charset="0"/>
              <a:buChar char="o"/>
            </a:pPr>
            <a:r>
              <a:rPr lang="en-US" dirty="0" err="1" smtClean="0"/>
              <a:t>MLflow</a:t>
            </a:r>
            <a:r>
              <a:rPr lang="en-US" dirty="0" smtClean="0"/>
              <a:t> </a:t>
            </a:r>
            <a:r>
              <a:rPr lang="en-US" dirty="0"/>
              <a:t>Tracking</a:t>
            </a:r>
          </a:p>
          <a:p>
            <a:pPr lvl="1">
              <a:buClr>
                <a:srgbClr val="00B0F0"/>
              </a:buClr>
              <a:buFont typeface="Courier New" panose="02070309020205020404" pitchFamily="49" charset="0"/>
              <a:buChar char="o"/>
            </a:pPr>
            <a:r>
              <a:rPr lang="en-US" dirty="0" err="1" smtClean="0"/>
              <a:t>MLflow</a:t>
            </a:r>
            <a:r>
              <a:rPr lang="en-US" dirty="0" smtClean="0"/>
              <a:t> </a:t>
            </a:r>
            <a:r>
              <a:rPr lang="en-US" dirty="0"/>
              <a:t>Projects</a:t>
            </a:r>
          </a:p>
          <a:p>
            <a:pPr lvl="1">
              <a:buClr>
                <a:srgbClr val="00B0F0"/>
              </a:buClr>
              <a:buFont typeface="Courier New" panose="02070309020205020404" pitchFamily="49" charset="0"/>
              <a:buChar char="o"/>
            </a:pPr>
            <a:r>
              <a:rPr lang="en-US" dirty="0" err="1" smtClean="0"/>
              <a:t>MLflow</a:t>
            </a:r>
            <a:r>
              <a:rPr lang="en-US" dirty="0" smtClean="0"/>
              <a:t> </a:t>
            </a:r>
            <a:r>
              <a:rPr lang="en-US" dirty="0"/>
              <a:t>Models</a:t>
            </a:r>
          </a:p>
          <a:p>
            <a:pPr lvl="1">
              <a:buClr>
                <a:srgbClr val="00B0F0"/>
              </a:buClr>
              <a:buFont typeface="Courier New" panose="02070309020205020404" pitchFamily="49" charset="0"/>
              <a:buChar char="o"/>
            </a:pPr>
            <a:r>
              <a:rPr lang="en-US" dirty="0" err="1" smtClean="0"/>
              <a:t>MLflow</a:t>
            </a:r>
            <a:r>
              <a:rPr lang="en-US" dirty="0" smtClean="0"/>
              <a:t> </a:t>
            </a:r>
            <a:r>
              <a:rPr lang="en-US" dirty="0"/>
              <a:t>Model Registry</a:t>
            </a:r>
          </a:p>
          <a:p>
            <a:pPr marL="0" indent="0">
              <a:buClr>
                <a:srgbClr val="00B0F0"/>
              </a:buClr>
              <a:buNone/>
            </a:pPr>
            <a:r>
              <a:rPr lang="en-US" dirty="0" smtClean="0"/>
              <a:t/>
            </a:r>
            <a:br>
              <a:rPr lang="en-US" dirty="0" smtClean="0"/>
            </a:br>
            <a:endParaRPr lang="en-US" dirty="0"/>
          </a:p>
        </p:txBody>
      </p:sp>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err="1" smtClean="0"/>
              <a:t>MLflow</a:t>
            </a:r>
            <a:r>
              <a:rPr lang="en-IN" dirty="0" smtClean="0"/>
              <a:t> </a:t>
            </a:r>
            <a:r>
              <a:rPr lang="en-IN" dirty="0"/>
              <a:t>Tracking</a:t>
            </a:r>
            <a:r>
              <a:rPr lang="en-IN" dirty="0"/>
              <a:t/>
            </a:r>
            <a:br>
              <a:rPr lang="en-IN" dirty="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08919" y="1173377"/>
            <a:ext cx="11450409" cy="3359894"/>
          </a:xfrm>
        </p:spPr>
        <p:txBody>
          <a:bodyPr/>
          <a:lstStyle/>
          <a:p>
            <a:pPr>
              <a:buClr>
                <a:srgbClr val="00B0F0"/>
              </a:buClr>
              <a:buFont typeface="Courier New" panose="02070309020205020404" pitchFamily="49" charset="0"/>
              <a:buChar char="o"/>
            </a:pPr>
            <a:r>
              <a:rPr lang="en-US" dirty="0" smtClean="0"/>
              <a:t>Machine </a:t>
            </a:r>
            <a:r>
              <a:rPr lang="en-US" dirty="0"/>
              <a:t>learning development is fundamentally an experimental process. Data scientists rarely train a model just once. Instead, they perform numerous experiments by changing:</a:t>
            </a:r>
          </a:p>
          <a:p>
            <a:pPr lvl="1">
              <a:buClr>
                <a:srgbClr val="00B0F0"/>
              </a:buClr>
              <a:buFont typeface="Courier New" panose="02070309020205020404" pitchFamily="49" charset="0"/>
              <a:buChar char="o"/>
            </a:pPr>
            <a:r>
              <a:rPr lang="en-US" dirty="0" smtClean="0"/>
              <a:t>Training </a:t>
            </a:r>
            <a:r>
              <a:rPr lang="en-US" dirty="0"/>
              <a:t>datasets</a:t>
            </a:r>
          </a:p>
          <a:p>
            <a:pPr lvl="1">
              <a:buClr>
                <a:srgbClr val="00B0F0"/>
              </a:buClr>
              <a:buFont typeface="Courier New" panose="02070309020205020404" pitchFamily="49" charset="0"/>
              <a:buChar char="o"/>
            </a:pPr>
            <a:r>
              <a:rPr lang="en-US" dirty="0" smtClean="0"/>
              <a:t>Feature </a:t>
            </a:r>
            <a:r>
              <a:rPr lang="en-US" dirty="0"/>
              <a:t>sets</a:t>
            </a:r>
          </a:p>
          <a:p>
            <a:pPr lvl="1">
              <a:buClr>
                <a:srgbClr val="00B0F0"/>
              </a:buClr>
              <a:buFont typeface="Courier New" panose="02070309020205020404" pitchFamily="49" charset="0"/>
              <a:buChar char="o"/>
            </a:pPr>
            <a:r>
              <a:rPr lang="en-US" dirty="0" smtClean="0"/>
              <a:t>Model </a:t>
            </a:r>
            <a:r>
              <a:rPr lang="en-US" dirty="0"/>
              <a:t>architectures</a:t>
            </a:r>
          </a:p>
          <a:p>
            <a:pPr lvl="1">
              <a:buClr>
                <a:srgbClr val="00B0F0"/>
              </a:buClr>
              <a:buFont typeface="Courier New" panose="02070309020205020404" pitchFamily="49" charset="0"/>
              <a:buChar char="o"/>
            </a:pPr>
            <a:r>
              <a:rPr lang="en-US" dirty="0" err="1" smtClean="0"/>
              <a:t>Hyperparameters</a:t>
            </a:r>
            <a:endParaRPr lang="en-US" dirty="0"/>
          </a:p>
          <a:p>
            <a:pPr lvl="1">
              <a:buClr>
                <a:srgbClr val="00B0F0"/>
              </a:buClr>
              <a:buFont typeface="Courier New" panose="02070309020205020404" pitchFamily="49" charset="0"/>
              <a:buChar char="o"/>
            </a:pPr>
            <a:r>
              <a:rPr lang="en-US" dirty="0" smtClean="0"/>
              <a:t>Source </a:t>
            </a:r>
            <a:r>
              <a:rPr lang="en-US" dirty="0"/>
              <a:t>code</a:t>
            </a:r>
          </a:p>
          <a:p>
            <a:pPr lvl="1">
              <a:buClr>
                <a:srgbClr val="00B0F0"/>
              </a:buClr>
              <a:buFont typeface="Courier New" panose="02070309020205020404" pitchFamily="49" charset="0"/>
              <a:buChar char="o"/>
            </a:pPr>
            <a:r>
              <a:rPr lang="en-US" dirty="0" smtClean="0"/>
              <a:t>Evaluation </a:t>
            </a:r>
            <a:r>
              <a:rPr lang="en-US" dirty="0"/>
              <a:t>strategies</a:t>
            </a:r>
          </a:p>
          <a:p>
            <a:pPr>
              <a:buClr>
                <a:srgbClr val="00B0F0"/>
              </a:buClr>
              <a:buFont typeface="Courier New" panose="02070309020205020404" pitchFamily="49" charset="0"/>
              <a:buChar char="o"/>
            </a:pPr>
            <a:r>
              <a:rPr lang="en-US" dirty="0"/>
              <a:t>The objective is to identify the best-performing model through continuous experimentation.</a:t>
            </a:r>
          </a:p>
        </p:txBody>
      </p:sp>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IN" dirty="0"/>
              <a:t>The Challenge</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345989" y="867034"/>
            <a:ext cx="10466173" cy="5499967"/>
          </a:xfrm>
        </p:spPr>
        <p:txBody>
          <a:bodyPr/>
          <a:lstStyle/>
          <a:p>
            <a:pPr>
              <a:buClr>
                <a:srgbClr val="00B0F0"/>
              </a:buClr>
              <a:buFont typeface="Courier New" panose="02070309020205020404" pitchFamily="49" charset="0"/>
              <a:buChar char="o"/>
            </a:pPr>
            <a:r>
              <a:rPr lang="en-US" dirty="0" smtClean="0"/>
              <a:t>After </a:t>
            </a:r>
            <a:r>
              <a:rPr lang="en-US" dirty="0"/>
              <a:t>running dozens or even hundreds of experiments, an important question arises:</a:t>
            </a:r>
          </a:p>
          <a:p>
            <a:pPr lvl="1">
              <a:buClr>
                <a:srgbClr val="00B0F0"/>
              </a:buClr>
              <a:buFont typeface="Courier New" panose="02070309020205020404" pitchFamily="49" charset="0"/>
              <a:buChar char="o"/>
            </a:pPr>
            <a:r>
              <a:rPr lang="en-US" dirty="0" smtClean="0"/>
              <a:t>Which </a:t>
            </a:r>
            <a:r>
              <a:rPr lang="en-US" dirty="0"/>
              <a:t>combination of </a:t>
            </a:r>
            <a:r>
              <a:rPr lang="en-US" dirty="0" err="1"/>
              <a:t>hyperparameters</a:t>
            </a:r>
            <a:r>
              <a:rPr lang="en-US" dirty="0"/>
              <a:t> produced the best model?</a:t>
            </a:r>
          </a:p>
          <a:p>
            <a:pPr lvl="1">
              <a:buClr>
                <a:srgbClr val="00B0F0"/>
              </a:buClr>
              <a:buFont typeface="Courier New" panose="02070309020205020404" pitchFamily="49" charset="0"/>
              <a:buChar char="o"/>
            </a:pPr>
            <a:r>
              <a:rPr lang="en-US" dirty="0" smtClean="0"/>
              <a:t>Which </a:t>
            </a:r>
            <a:r>
              <a:rPr lang="en-US" dirty="0"/>
              <a:t>version of the code was used?</a:t>
            </a:r>
          </a:p>
          <a:p>
            <a:pPr lvl="1">
              <a:buClr>
                <a:srgbClr val="00B0F0"/>
              </a:buClr>
              <a:buFont typeface="Courier New" panose="02070309020205020404" pitchFamily="49" charset="0"/>
              <a:buChar char="o"/>
            </a:pPr>
            <a:r>
              <a:rPr lang="en-US" dirty="0" smtClean="0"/>
              <a:t>Which </a:t>
            </a:r>
            <a:r>
              <a:rPr lang="en-US" dirty="0"/>
              <a:t>dataset was used for training?</a:t>
            </a:r>
          </a:p>
          <a:p>
            <a:pPr lvl="1">
              <a:buClr>
                <a:srgbClr val="00B0F0"/>
              </a:buClr>
              <a:buFont typeface="Courier New" panose="02070309020205020404" pitchFamily="49" charset="0"/>
              <a:buChar char="o"/>
            </a:pPr>
            <a:r>
              <a:rPr lang="en-US" dirty="0" smtClean="0"/>
              <a:t>What </a:t>
            </a:r>
            <a:r>
              <a:rPr lang="en-US" dirty="0"/>
              <a:t>evaluation metrics did the model achieve?</a:t>
            </a:r>
          </a:p>
          <a:p>
            <a:pPr lvl="1">
              <a:buClr>
                <a:srgbClr val="00B0F0"/>
              </a:buClr>
              <a:buFont typeface="Courier New" panose="02070309020205020404" pitchFamily="49" charset="0"/>
              <a:buChar char="o"/>
            </a:pPr>
            <a:r>
              <a:rPr lang="en-US" dirty="0" smtClean="0"/>
              <a:t>Can </a:t>
            </a:r>
            <a:r>
              <a:rPr lang="en-US" dirty="0"/>
              <a:t>another team member reproduce the same results?</a:t>
            </a:r>
          </a:p>
          <a:p>
            <a:pPr>
              <a:buClr>
                <a:srgbClr val="00B0F0"/>
              </a:buClr>
              <a:buFont typeface="Courier New" panose="02070309020205020404" pitchFamily="49" charset="0"/>
              <a:buChar char="o"/>
            </a:pPr>
            <a:r>
              <a:rPr lang="en-US" dirty="0"/>
              <a:t>Traditionally, many data scientists manually maintain experiment records using local folders, spreadsheets, or files with names such as:</a:t>
            </a:r>
          </a:p>
          <a:p>
            <a:pPr lvl="1">
              <a:buClr>
                <a:srgbClr val="00B0F0"/>
              </a:buClr>
              <a:buFont typeface="Courier New" panose="02070309020205020404" pitchFamily="49" charset="0"/>
              <a:buChar char="o"/>
            </a:pPr>
            <a:r>
              <a:rPr lang="en-US" dirty="0" smtClean="0"/>
              <a:t>final_model.py</a:t>
            </a:r>
            <a:endParaRPr lang="en-US" dirty="0"/>
          </a:p>
          <a:p>
            <a:pPr lvl="1">
              <a:buClr>
                <a:srgbClr val="00B0F0"/>
              </a:buClr>
              <a:buFont typeface="Courier New" panose="02070309020205020404" pitchFamily="49" charset="0"/>
              <a:buChar char="o"/>
            </a:pPr>
            <a:r>
              <a:rPr lang="en-US" dirty="0" smtClean="0"/>
              <a:t>final_model_v2.py</a:t>
            </a:r>
            <a:endParaRPr lang="en-US" dirty="0"/>
          </a:p>
          <a:p>
            <a:pPr lvl="1">
              <a:buClr>
                <a:srgbClr val="00B0F0"/>
              </a:buClr>
              <a:buFont typeface="Courier New" panose="02070309020205020404" pitchFamily="49" charset="0"/>
              <a:buChar char="o"/>
            </a:pPr>
            <a:r>
              <a:rPr lang="en-US" dirty="0" smtClean="0"/>
              <a:t>final_latest.py</a:t>
            </a:r>
            <a:endParaRPr lang="en-US" dirty="0"/>
          </a:p>
          <a:p>
            <a:pPr lvl="1">
              <a:buClr>
                <a:srgbClr val="00B0F0"/>
              </a:buClr>
              <a:buFont typeface="Courier New" panose="02070309020205020404" pitchFamily="49" charset="0"/>
              <a:buChar char="o"/>
            </a:pPr>
            <a:r>
              <a:rPr lang="en-US" dirty="0" smtClean="0"/>
              <a:t>final_latest_new.py</a:t>
            </a:r>
            <a:endParaRPr lang="en-US" dirty="0"/>
          </a:p>
          <a:p>
            <a:pPr>
              <a:buClr>
                <a:srgbClr val="00B0F0"/>
              </a:buClr>
              <a:buFont typeface="Courier New" panose="02070309020205020404" pitchFamily="49" charset="0"/>
              <a:buChar char="o"/>
            </a:pPr>
            <a:r>
              <a:rPr lang="en-US" dirty="0"/>
              <a:t>This approach quickly becomes difficult to manage, especially in collaborative environments.</a:t>
            </a:r>
          </a:p>
          <a:p>
            <a:endParaRPr lang="en-US" dirty="0"/>
          </a:p>
        </p:txBody>
      </p:sp>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C0A5957E-00C1-4894-8C5A-B1D05A0454D5}"/>
              </a:ext>
            </a:extLst>
          </p:cNvPr>
          <p:cNvSpPr>
            <a:spLocks noGrp="1"/>
          </p:cNvSpPr>
          <p:nvPr>
            <p:ph type="body" sz="quarter" idx="11"/>
          </p:nvPr>
        </p:nvSpPr>
        <p:spPr/>
        <p:txBody>
          <a:bodyPr/>
          <a:lstStyle/>
          <a:p>
            <a:r>
              <a:rPr lang="en-US" dirty="0"/>
              <a:t>How </a:t>
            </a:r>
            <a:r>
              <a:rPr lang="en-US" dirty="0" err="1"/>
              <a:t>MLflow</a:t>
            </a:r>
            <a:r>
              <a:rPr lang="en-US" dirty="0"/>
              <a:t> Tracking Solves the Problem</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2463F1D2-D4CD-46B7-BADE-F17860E16E9A}"/>
              </a:ext>
            </a:extLst>
          </p:cNvPr>
          <p:cNvSpPr>
            <a:spLocks noGrp="1"/>
          </p:cNvSpPr>
          <p:nvPr>
            <p:ph type="body" sz="quarter" idx="13"/>
          </p:nvPr>
        </p:nvSpPr>
        <p:spPr>
          <a:xfrm>
            <a:off x="457200" y="965887"/>
            <a:ext cx="10898659" cy="5058821"/>
          </a:xfrm>
        </p:spPr>
        <p:txBody>
          <a:bodyPr/>
          <a:lstStyle/>
          <a:p>
            <a:pPr>
              <a:buClr>
                <a:srgbClr val="00B0F0"/>
              </a:buClr>
              <a:buFont typeface="Courier New" panose="02070309020205020404" pitchFamily="49" charset="0"/>
              <a:buChar char="o"/>
            </a:pPr>
            <a:r>
              <a:rPr lang="en-IN" dirty="0" err="1" smtClean="0"/>
              <a:t>MLflow</a:t>
            </a:r>
            <a:r>
              <a:rPr lang="en-IN" dirty="0" smtClean="0"/>
              <a:t> </a:t>
            </a:r>
            <a:r>
              <a:rPr lang="en-IN" dirty="0"/>
              <a:t>Tracking provides a centralized way to record every machine learning </a:t>
            </a:r>
            <a:r>
              <a:rPr lang="en-IN" dirty="0" smtClean="0"/>
              <a:t>experiment.</a:t>
            </a:r>
          </a:p>
          <a:p>
            <a:pPr>
              <a:buClr>
                <a:srgbClr val="00B0F0"/>
              </a:buClr>
              <a:buFont typeface="Courier New" panose="02070309020205020404" pitchFamily="49" charset="0"/>
              <a:buChar char="o"/>
            </a:pPr>
            <a:r>
              <a:rPr lang="en-IN" dirty="0" smtClean="0"/>
              <a:t>It </a:t>
            </a:r>
            <a:r>
              <a:rPr lang="en-IN" dirty="0"/>
              <a:t>automatically logs important experiment information such </a:t>
            </a:r>
            <a:r>
              <a:rPr lang="en-IN" dirty="0" smtClean="0"/>
              <a:t>as:</a:t>
            </a:r>
          </a:p>
          <a:p>
            <a:pPr lvl="1">
              <a:buClr>
                <a:srgbClr val="00B0F0"/>
              </a:buClr>
              <a:buFont typeface="Courier New" panose="02070309020205020404" pitchFamily="49" charset="0"/>
              <a:buChar char="o"/>
            </a:pPr>
            <a:r>
              <a:rPr lang="en-IN" dirty="0" err="1" smtClean="0"/>
              <a:t>Hyperparameters</a:t>
            </a:r>
            <a:endParaRPr lang="en-IN" dirty="0"/>
          </a:p>
          <a:p>
            <a:pPr lvl="1">
              <a:buClr>
                <a:srgbClr val="00B0F0"/>
              </a:buClr>
              <a:buFont typeface="Courier New" panose="02070309020205020404" pitchFamily="49" charset="0"/>
              <a:buChar char="o"/>
            </a:pPr>
            <a:r>
              <a:rPr lang="en-IN" dirty="0" smtClean="0"/>
              <a:t>Source code version</a:t>
            </a:r>
          </a:p>
          <a:p>
            <a:pPr lvl="1">
              <a:buClr>
                <a:srgbClr val="00B0F0"/>
              </a:buClr>
              <a:buFont typeface="Courier New" panose="02070309020205020404" pitchFamily="49" charset="0"/>
              <a:buChar char="o"/>
            </a:pPr>
            <a:r>
              <a:rPr lang="en-IN" dirty="0" smtClean="0"/>
              <a:t>Evaluation metrics</a:t>
            </a:r>
          </a:p>
          <a:p>
            <a:pPr lvl="1">
              <a:buClr>
                <a:srgbClr val="00B0F0"/>
              </a:buClr>
              <a:buFont typeface="Courier New" panose="02070309020205020404" pitchFamily="49" charset="0"/>
              <a:buChar char="o"/>
            </a:pPr>
            <a:r>
              <a:rPr lang="en-IN" dirty="0" smtClean="0"/>
              <a:t>Model outputs</a:t>
            </a:r>
          </a:p>
          <a:p>
            <a:pPr lvl="1">
              <a:buClr>
                <a:srgbClr val="00B0F0"/>
              </a:buClr>
              <a:buFont typeface="Courier New" panose="02070309020205020404" pitchFamily="49" charset="0"/>
              <a:buChar char="o"/>
            </a:pPr>
            <a:r>
              <a:rPr lang="en-IN" dirty="0" err="1" smtClean="0"/>
              <a:t>Artifacts</a:t>
            </a:r>
            <a:endParaRPr lang="en-IN" dirty="0"/>
          </a:p>
          <a:p>
            <a:pPr lvl="1">
              <a:buClr>
                <a:srgbClr val="00B0F0"/>
              </a:buClr>
              <a:buFont typeface="Courier New" panose="02070309020205020404" pitchFamily="49" charset="0"/>
              <a:buChar char="o"/>
            </a:pPr>
            <a:r>
              <a:rPr lang="en-IN" dirty="0" smtClean="0"/>
              <a:t>Execution details</a:t>
            </a:r>
          </a:p>
          <a:p>
            <a:pPr>
              <a:buClr>
                <a:srgbClr val="00B0F0"/>
              </a:buClr>
              <a:buFont typeface="Courier New" panose="02070309020205020404" pitchFamily="49" charset="0"/>
              <a:buChar char="o"/>
            </a:pPr>
            <a:r>
              <a:rPr lang="en-IN" dirty="0" smtClean="0"/>
              <a:t>This </a:t>
            </a:r>
            <a:r>
              <a:rPr lang="en-IN" dirty="0"/>
              <a:t>enables teams to</a:t>
            </a:r>
            <a:r>
              <a:rPr lang="en-IN" dirty="0" smtClean="0"/>
              <a:t>:</a:t>
            </a:r>
          </a:p>
          <a:p>
            <a:pPr lvl="1">
              <a:buClr>
                <a:srgbClr val="00B0F0"/>
              </a:buClr>
              <a:buFont typeface="Courier New" panose="02070309020205020404" pitchFamily="49" charset="0"/>
              <a:buChar char="o"/>
            </a:pPr>
            <a:r>
              <a:rPr lang="en-IN" dirty="0"/>
              <a:t>Organize experiments </a:t>
            </a:r>
            <a:r>
              <a:rPr lang="en-IN" dirty="0" smtClean="0"/>
              <a:t>efficiently.</a:t>
            </a:r>
          </a:p>
          <a:p>
            <a:pPr lvl="1">
              <a:buClr>
                <a:srgbClr val="00B0F0"/>
              </a:buClr>
              <a:buFont typeface="Courier New" panose="02070309020205020404" pitchFamily="49" charset="0"/>
              <a:buChar char="o"/>
            </a:pPr>
            <a:r>
              <a:rPr lang="en-IN" dirty="0" smtClean="0"/>
              <a:t>Compare different model runs.</a:t>
            </a:r>
          </a:p>
          <a:p>
            <a:pPr lvl="1">
              <a:buClr>
                <a:srgbClr val="00B0F0"/>
              </a:buClr>
              <a:buFont typeface="Courier New" panose="02070309020205020404" pitchFamily="49" charset="0"/>
              <a:buChar char="o"/>
            </a:pPr>
            <a:r>
              <a:rPr lang="en-IN" dirty="0" smtClean="0"/>
              <a:t>Reproduce </a:t>
            </a:r>
            <a:r>
              <a:rPr lang="en-IN" dirty="0"/>
              <a:t>previous </a:t>
            </a:r>
            <a:r>
              <a:rPr lang="en-IN" dirty="0" smtClean="0"/>
              <a:t>experiments.</a:t>
            </a:r>
          </a:p>
          <a:p>
            <a:pPr lvl="1">
              <a:buClr>
                <a:srgbClr val="00B0F0"/>
              </a:buClr>
              <a:buFont typeface="Courier New" panose="02070309020205020404" pitchFamily="49" charset="0"/>
              <a:buChar char="o"/>
            </a:pPr>
            <a:r>
              <a:rPr lang="en-IN" dirty="0" smtClean="0"/>
              <a:t>Share </a:t>
            </a:r>
            <a:r>
              <a:rPr lang="en-IN" dirty="0"/>
              <a:t>experiment results with colleagues</a:t>
            </a:r>
            <a:r>
              <a:rPr lang="en-IN" dirty="0" smtClean="0"/>
              <a:t>.</a:t>
            </a:r>
            <a:endParaRPr lang="en-IN" dirty="0"/>
          </a:p>
        </p:txBody>
      </p:sp>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 xmlns:a16="http://schemas.microsoft.com/office/drawing/2014/main" id="{0C813FEE-17AE-5D09-7E31-73405E276A3F}"/>
              </a:ext>
            </a:extLst>
          </p:cNvPr>
          <p:cNvSpPr>
            <a:spLocks noGrp="1"/>
          </p:cNvSpPr>
          <p:nvPr>
            <p:ph type="body" sz="quarter" idx="11"/>
          </p:nvPr>
        </p:nvSpPr>
        <p:spPr/>
        <p:txBody>
          <a:bodyPr/>
          <a:lstStyle/>
          <a:p>
            <a:r>
              <a:rPr lang="en-IN" dirty="0" err="1"/>
              <a:t>MLflow</a:t>
            </a:r>
            <a:r>
              <a:rPr lang="en-IN" dirty="0"/>
              <a:t> Tracking UI</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 xmlns:a16="http://schemas.microsoft.com/office/drawing/2014/main" id="{B33B5B80-9820-6A94-CE15-9D36A6ED4C44}"/>
              </a:ext>
            </a:extLst>
          </p:cNvPr>
          <p:cNvSpPr>
            <a:spLocks noGrp="1"/>
          </p:cNvSpPr>
          <p:nvPr>
            <p:ph type="body" sz="quarter" idx="13"/>
          </p:nvPr>
        </p:nvSpPr>
        <p:spPr>
          <a:xfrm>
            <a:off x="182880" y="1056399"/>
            <a:ext cx="11450409" cy="5467138"/>
          </a:xfrm>
        </p:spPr>
        <p:txBody>
          <a:bodyPr/>
          <a:lstStyle/>
          <a:p>
            <a:pPr lvl="0">
              <a:buClr>
                <a:srgbClr val="00B0F0"/>
              </a:buClr>
              <a:buFont typeface="Courier New" panose="02070309020205020404" pitchFamily="49" charset="0"/>
              <a:buChar char="o"/>
            </a:pPr>
            <a:r>
              <a:rPr lang="en-US" dirty="0" smtClean="0"/>
              <a:t>The </a:t>
            </a:r>
            <a:r>
              <a:rPr lang="en-US" dirty="0"/>
              <a:t>diagram above illustrates the Machine Learning </a:t>
            </a:r>
            <a:r>
              <a:rPr lang="en-US" dirty="0" smtClean="0"/>
              <a:t>process.</a:t>
            </a:r>
          </a:p>
          <a:p>
            <a:pPr lvl="0">
              <a:buClr>
                <a:srgbClr val="00B0F0"/>
              </a:buClr>
              <a:buFont typeface="Courier New" panose="02070309020205020404" pitchFamily="49" charset="0"/>
              <a:buChar char="o"/>
            </a:pPr>
            <a:r>
              <a:rPr lang="en-US" dirty="0"/>
              <a:t>One of the biggest advantages of </a:t>
            </a:r>
            <a:r>
              <a:rPr lang="en-US" dirty="0" err="1"/>
              <a:t>MLflow</a:t>
            </a:r>
            <a:r>
              <a:rPr lang="en-US" dirty="0"/>
              <a:t> Tracking is its web-based user interface.</a:t>
            </a:r>
          </a:p>
          <a:p>
            <a:pPr lvl="0">
              <a:buClr>
                <a:srgbClr val="00B0F0"/>
              </a:buClr>
              <a:buFont typeface="Courier New" panose="02070309020205020404" pitchFamily="49" charset="0"/>
              <a:buChar char="o"/>
            </a:pPr>
            <a:r>
              <a:rPr lang="en-US" dirty="0"/>
              <a:t>Instead of searching through terminal logs or local folders, users can visualize:</a:t>
            </a:r>
          </a:p>
          <a:p>
            <a:pPr lvl="1">
              <a:buClr>
                <a:srgbClr val="00B0F0"/>
              </a:buClr>
              <a:buFont typeface="Courier New" panose="02070309020205020404" pitchFamily="49" charset="0"/>
              <a:buChar char="o"/>
            </a:pPr>
            <a:r>
              <a:rPr lang="en-US" dirty="0" smtClean="0"/>
              <a:t>Experiment </a:t>
            </a:r>
            <a:r>
              <a:rPr lang="en-US" dirty="0"/>
              <a:t>runs</a:t>
            </a:r>
          </a:p>
          <a:p>
            <a:pPr lvl="1">
              <a:buClr>
                <a:srgbClr val="00B0F0"/>
              </a:buClr>
              <a:buFont typeface="Courier New" panose="02070309020205020404" pitchFamily="49" charset="0"/>
              <a:buChar char="o"/>
            </a:pPr>
            <a:r>
              <a:rPr lang="en-US" dirty="0" smtClean="0"/>
              <a:t>Logged </a:t>
            </a:r>
            <a:r>
              <a:rPr lang="en-US" dirty="0"/>
              <a:t>parameters</a:t>
            </a:r>
          </a:p>
          <a:p>
            <a:pPr lvl="1">
              <a:buClr>
                <a:srgbClr val="00B0F0"/>
              </a:buClr>
              <a:buFont typeface="Courier New" panose="02070309020205020404" pitchFamily="49" charset="0"/>
              <a:buChar char="o"/>
            </a:pPr>
            <a:r>
              <a:rPr lang="en-US" dirty="0" smtClean="0"/>
              <a:t>Performance </a:t>
            </a:r>
            <a:r>
              <a:rPr lang="en-US" dirty="0"/>
              <a:t>metrics</a:t>
            </a:r>
          </a:p>
          <a:p>
            <a:pPr lvl="1">
              <a:buClr>
                <a:srgbClr val="00B0F0"/>
              </a:buClr>
              <a:buFont typeface="Courier New" panose="02070309020205020404" pitchFamily="49" charset="0"/>
              <a:buChar char="o"/>
            </a:pPr>
            <a:r>
              <a:rPr lang="en-US" dirty="0" smtClean="0"/>
              <a:t>Training </a:t>
            </a:r>
            <a:r>
              <a:rPr lang="en-US" dirty="0"/>
              <a:t>history</a:t>
            </a:r>
          </a:p>
          <a:p>
            <a:pPr lvl="1">
              <a:buClr>
                <a:srgbClr val="00B0F0"/>
              </a:buClr>
              <a:buFont typeface="Courier New" panose="02070309020205020404" pitchFamily="49" charset="0"/>
              <a:buChar char="o"/>
            </a:pPr>
            <a:r>
              <a:rPr lang="en-US" dirty="0" smtClean="0"/>
              <a:t>Model </a:t>
            </a:r>
            <a:r>
              <a:rPr lang="en-US" dirty="0"/>
              <a:t>comparisons</a:t>
            </a:r>
          </a:p>
          <a:p>
            <a:pPr lvl="0">
              <a:buClr>
                <a:srgbClr val="00B0F0"/>
              </a:buClr>
              <a:buFont typeface="Courier New" panose="02070309020205020404" pitchFamily="49" charset="0"/>
              <a:buChar char="o"/>
            </a:pPr>
            <a:r>
              <a:rPr lang="en-US" dirty="0"/>
              <a:t>The graphical interface makes it significantly easier to analyze experiments and identify the best-performing models.</a:t>
            </a:r>
          </a:p>
          <a:p>
            <a:pPr lvl="0">
              <a:buClr>
                <a:srgbClr val="00B0F0"/>
              </a:buClr>
              <a:buFont typeface="Courier New" panose="02070309020205020404" pitchFamily="49" charset="0"/>
              <a:buChar char="o"/>
            </a:pPr>
            <a:endParaRPr lang="en-US" dirty="0"/>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 xmlns:a16="http://schemas.microsoft.com/office/drawing/2014/main"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 xmlns:a16="http://schemas.microsoft.com/office/drawing/2014/main"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 xmlns:a16="http://schemas.microsoft.com/office/drawing/2014/main"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 xmlns:thm15="http://schemas.microsoft.com/office/thememl/2012/main"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B878CF0A-9D77-4FD2-A2D8-5E627661DB47}">
  <ds:schemaRefs>
    <ds:schemaRef ds:uri="http://schemas.microsoft.com/office/infopath/2007/PartnerControls"/>
    <ds:schemaRef ds:uri="http://schemas.microsoft.com/office/2006/documentManagement/types"/>
    <ds:schemaRef ds:uri="http://schemas.microsoft.com/office/2006/metadata/properties"/>
    <ds:schemaRef ds:uri="http://purl.org/dc/terms/"/>
    <ds:schemaRef ds:uri="http://schemas.openxmlformats.org/package/2006/metadata/core-properties"/>
    <ds:schemaRef ds:uri="http://purl.org/dc/dcmitype/"/>
    <ds:schemaRef ds:uri="863d8192-19c9-48ba-956d-c31701e6c360"/>
    <ds:schemaRef ds:uri="http://www.w3.org/XML/1998/namespace"/>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49250</TotalTime>
  <Words>617</Words>
  <Application>Microsoft Office PowerPoint</Application>
  <PresentationFormat>Custom</PresentationFormat>
  <Paragraphs>126</Paragraphs>
  <Slides>15</Slides>
  <Notes>0</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15</vt:i4>
      </vt:variant>
    </vt:vector>
  </HeadingPairs>
  <TitlesOfParts>
    <vt:vector size="19" baseType="lpstr">
      <vt:lpstr>Infogain Theme</vt:lpstr>
      <vt:lpstr>Tenarai</vt:lpstr>
      <vt:lpstr>1_Tenarai</vt:lpstr>
      <vt:lpstr>think-cell Slide</vt:lpstr>
      <vt:lpstr>MLflow Part-01</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990</cp:revision>
  <dcterms:created xsi:type="dcterms:W3CDTF">2016-11-03T07:42:20Z</dcterms:created>
  <dcterms:modified xsi:type="dcterms:W3CDTF">2026-08-13T08:06:18Z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